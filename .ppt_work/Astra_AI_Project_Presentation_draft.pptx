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c91d5d913493d" /><Relationship Type="http://schemas.openxmlformats.org/officeDocument/2006/relationships/extended-properties" Target="/docProps/app.xml" Id="Re35f8b635c974946" /><Relationship Type="http://schemas.openxmlformats.org/officeDocument/2006/relationships/officeDocument" Target="/ppt/presentation.xml" Id="Rab933ac1e67d4f2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e03c868c61f48b0"/>
  </p:sldMasterIdLst>
  <p:notesMasterIdLst>
    <p:notesMasterId xmlns:r="http://schemas.openxmlformats.org/officeDocument/2006/relationships" r:id="Re7e27938a4ba4cb2"/>
  </p:notesMasterIdLst>
  <p:sldIdLst>
    <p:sldId xmlns:r="http://schemas.openxmlformats.org/officeDocument/2006/relationships" id="256" r:id="R3aaf9114fc5a42a1"/>
    <p:sldId xmlns:r="http://schemas.openxmlformats.org/officeDocument/2006/relationships" id="257" r:id="R15eff182c63a41ec"/>
    <p:sldId xmlns:r="http://schemas.openxmlformats.org/officeDocument/2006/relationships" id="258" r:id="Rd96f28ed511142a7"/>
    <p:sldId xmlns:r="http://schemas.openxmlformats.org/officeDocument/2006/relationships" id="259" r:id="R42277ee8e17e4e1a"/>
    <p:sldId xmlns:r="http://schemas.openxmlformats.org/officeDocument/2006/relationships" id="260" r:id="R465ef675951147cc"/>
    <p:sldId xmlns:r="http://schemas.openxmlformats.org/officeDocument/2006/relationships" id="261" r:id="R492a6e3c0f284637"/>
    <p:sldId xmlns:r="http://schemas.openxmlformats.org/officeDocument/2006/relationships" id="262" r:id="R416c33935e634ba1"/>
    <p:sldId xmlns:r="http://schemas.openxmlformats.org/officeDocument/2006/relationships" id="263" r:id="R367e25d1033b4b9e"/>
    <p:sldId xmlns:r="http://schemas.openxmlformats.org/officeDocument/2006/relationships" id="264" r:id="R5565c1064dc04f53"/>
    <p:sldId xmlns:r="http://schemas.openxmlformats.org/officeDocument/2006/relationships" id="265" r:id="R6b6092c8c10e45cd"/>
  </p:sldIdLst>
  <p:sldSz cx="18288000" cy="10287000"/>
  <p:notesSz cx="6858000" cy="9144000"/>
  <p:embeddedFontLst>
    <p:embeddedFont>
      <p:font typeface="Glacial Indifference Bold"/>
      <p:regular xmlns:r="http://schemas.openxmlformats.org/officeDocument/2006/relationships" r:id="Rf5bf349e707049a2"/>
    </p:embeddedFont>
    <p:embeddedFont>
      <p:font typeface="Canva Sans"/>
      <p:regular xmlns:r="http://schemas.openxmlformats.org/officeDocument/2006/relationships" r:id="Rf41c5190292340ee"/>
    </p:embeddedFont>
    <p:embeddedFont>
      <p:font typeface="Cooper BT Bold Italics"/>
      <p:regular xmlns:r="http://schemas.openxmlformats.org/officeDocument/2006/relationships" r:id="R0073fdc3056643db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4d7657045b40e1" /><Relationship Type="http://schemas.openxmlformats.org/officeDocument/2006/relationships/slideMaster" Target="/ppt/slideMasters/slideMaster1.xml" Id="Rbe03c868c61f48b0" /><Relationship Type="http://schemas.openxmlformats.org/officeDocument/2006/relationships/notesMaster" Target="/ppt/notesMasters/notesMaster1.xml" Id="Re7e27938a4ba4cb2" /><Relationship Type="http://schemas.openxmlformats.org/officeDocument/2006/relationships/presProps" Target="/ppt/presProps.xml" Id="R61279fc77d9b42bb" /><Relationship Type="http://schemas.openxmlformats.org/officeDocument/2006/relationships/viewProps" Target="/ppt/viewProps.xml" Id="Re853d7e86c494f22" /><Relationship Type="http://schemas.openxmlformats.org/officeDocument/2006/relationships/tableStyles" Target="/ppt/tableStyles.xml" Id="R06742af863924296" /><Relationship Type="http://schemas.openxmlformats.org/officeDocument/2006/relationships/font" Target="/ppt/fonts/font.dat" Id="Rf5bf349e707049a2" /><Relationship Type="http://schemas.openxmlformats.org/officeDocument/2006/relationships/font" Target="/ppt/fonts/font2.dat" Id="Rf41c5190292340ee" /><Relationship Type="http://schemas.openxmlformats.org/officeDocument/2006/relationships/font" Target="/ppt/fonts/font3.dat" Id="R0073fdc3056643db" /><Relationship Type="http://schemas.openxmlformats.org/officeDocument/2006/relationships/slide" Target="/ppt/slides/slide1.xml" Id="R3aaf9114fc5a42a1" /><Relationship Type="http://schemas.openxmlformats.org/officeDocument/2006/relationships/slide" Target="/ppt/slides/slide2.xml" Id="R15eff182c63a41ec" /><Relationship Type="http://schemas.openxmlformats.org/officeDocument/2006/relationships/slide" Target="/ppt/slides/slide3.xml" Id="Rd96f28ed511142a7" /><Relationship Type="http://schemas.openxmlformats.org/officeDocument/2006/relationships/slide" Target="/ppt/slides/slide4.xml" Id="R42277ee8e17e4e1a" /><Relationship Type="http://schemas.openxmlformats.org/officeDocument/2006/relationships/slide" Target="/ppt/slides/slide5.xml" Id="R465ef675951147cc" /><Relationship Type="http://schemas.openxmlformats.org/officeDocument/2006/relationships/slide" Target="/ppt/slides/slide6.xml" Id="R492a6e3c0f284637" /><Relationship Type="http://schemas.openxmlformats.org/officeDocument/2006/relationships/slide" Target="/ppt/slides/slide7.xml" Id="R416c33935e634ba1" /><Relationship Type="http://schemas.openxmlformats.org/officeDocument/2006/relationships/slide" Target="/ppt/slides/slide8.xml" Id="R367e25d1033b4b9e" /><Relationship Type="http://schemas.openxmlformats.org/officeDocument/2006/relationships/slide" Target="/ppt/slides/slide9.xml" Id="R5565c1064dc04f53" /><Relationship Type="http://schemas.openxmlformats.org/officeDocument/2006/relationships/slide" Target="/ppt/slides/slide10.xml" Id="R6b6092c8c10e45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a080c04f094f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73d313374a4765" /><Relationship Type="http://schemas.openxmlformats.org/officeDocument/2006/relationships/notesMaster" Target="/ppt/notesMasters/notesMaster1.xml" Id="R7322f1a1f35f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8d7662664248db" /><Relationship Type="http://schemas.openxmlformats.org/officeDocument/2006/relationships/notesMaster" Target="/ppt/notesMasters/notesMaster1.xml" Id="R3c2dbbfc4b9840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7da4c152c44291" /><Relationship Type="http://schemas.openxmlformats.org/officeDocument/2006/relationships/notesMaster" Target="/ppt/notesMasters/notesMaster1.xml" Id="Rfe9e9a94579146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fe33ed3234451d" /><Relationship Type="http://schemas.openxmlformats.org/officeDocument/2006/relationships/notesMaster" Target="/ppt/notesMasters/notesMaster1.xml" Id="Red132eca45cc4c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6830f2ec134ab6" /><Relationship Type="http://schemas.openxmlformats.org/officeDocument/2006/relationships/notesMaster" Target="/ppt/notesMasters/notesMaster1.xml" Id="R6f79c98f1f3545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7b0f4bb31747dc" /><Relationship Type="http://schemas.openxmlformats.org/officeDocument/2006/relationships/notesMaster" Target="/ppt/notesMasters/notesMaster1.xml" Id="Rf8881a30e89046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904079f50647eb" /><Relationship Type="http://schemas.openxmlformats.org/officeDocument/2006/relationships/notesMaster" Target="/ppt/notesMasters/notesMaster1.xml" Id="R646bacb18e0d42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2ced53c29a4e5e" /><Relationship Type="http://schemas.openxmlformats.org/officeDocument/2006/relationships/notesMaster" Target="/ppt/notesMasters/notesMaster1.xml" Id="R8e4f336df34940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0d82e14d934fe0" /><Relationship Type="http://schemas.openxmlformats.org/officeDocument/2006/relationships/notesMaster" Target="/ppt/notesMasters/notesMaster1.xml" Id="R3b6e20c91ad046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306e6e08664488" /><Relationship Type="http://schemas.openxmlformats.org/officeDocument/2006/relationships/notesMaster" Target="/ppt/notesMasters/notesMaster1.xml" Id="R45f63482ad8b4c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4c0db5d0549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70398c3754e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6e017944349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e9e5a33ad4a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2083a1dd043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270422543481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18c4ea07240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6cce1b04c4d4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28c158ea24e4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d5d2f184b4f5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695f9b7a8488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0E50E5-AF55-4B5C-A05D-3B7999AEC89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29DAD75-B6A8-4024-BE6B-6EC3B7F1E9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7817F5-D23E-483E-A148-D162E5FD34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F3D96C-ED84-4DD6-8852-3EAF4BDC89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5326AB-46C6-46C5-9B55-5A842E1A34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45212F-64F9-4B8F-A6C7-0457E374A93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C02272-E1D8-48F1-981A-E8FED727050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C24A56-F86A-4E05-A198-2855CF5F3A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FA47BA-A1B2-4DF3-9C5B-B9A218F060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9421E9-BEAD-4FE7-960E-C12BCBDAFF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1F8C5A-0509-40D7-A8D3-C3A8CE8B7740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D770A9-A108-4BD4-807E-21C949BAF4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D27C16A-E22E-4AF1-850C-A3DA8FBF5B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F11F91-F122-40B0-8637-52CC3D439A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1E84E7-717A-4950-A1E4-EA364DCC7A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F0190E-CF0A-4259-BF13-E8C60C0C6510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C08B4E-3388-4887-97C0-DA8556167A1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47B2D8-6ABC-40A4-8D0E-18A5D57D2E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D9D1DA7-1C85-4D62-A391-74C294A561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A94B41F-D242-45AE-960D-EE889F001F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DB158D3-0B48-4B19-A90B-483417DDFE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0E296E-8BE6-43FF-A007-C0DA546800B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8622F2-8D31-4B31-97BD-D491B9252E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9D56329-B986-481E-86F1-DE9A533CED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490DE40-20C7-42F6-B7F1-AF8274A5785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BAF8E1-70DB-423C-9673-2285D9F05DD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407A662-D9EB-43D3-91AB-FD4E69F7A5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FB8EA1F-8A19-4D48-A231-5F65538A09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B6D2F9A-D45F-47F8-9208-511960E4B4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31F66D-D19D-44F4-94EC-5559BAC72B22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BDF3F8B-3243-4D02-84ED-74D9082944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9D792CA-1066-41E0-8323-0510FEB244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32C5E58-9B9C-436C-A725-59F9F5BA61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BF920AD-B95A-4D86-8D5A-8AAE2E21B3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5D4621B-8A76-46C7-AAE7-ADCC15A4A1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2766C43-6613-4A5B-9B5C-384A2501F2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8130F9-15F0-4335-BAFF-0E2BF1D57CDE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1DD965-A51A-49F3-A158-8EADFEB2A7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9F8AA7-AF21-4DEA-8DF8-796375D7E2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1DEDCEB-6008-4273-948C-BCAD909876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DAC2ACD-0A70-4A1B-9B94-B36C686C89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3F8D55-C217-4947-9C9D-FC77426EB3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7BC222-5227-421B-BECF-A899BF8461A2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5D4D9CD-0A6B-4C6C-8AAA-C1AB1EA53D5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63612A-907C-4AE2-A7FC-C632B9BE2F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4AF2898-728B-4584-90E2-74EE57B338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1099EC-86FB-4AB9-ACB0-3062077673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C86C96-85EE-4F1D-82F8-6531B96A8E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74CF07-9475-4430-BC69-88EEE56B747F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BEA5FF-7924-4413-99E4-775CE075B6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BE19CB-5D24-4483-AD15-7BA7838BBB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11F164-0B14-4FE8-9CC4-4A4C80D2AB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2EDEBA-F9D4-448C-88AB-1D703C4D84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AFD8105-D92E-48B5-AEA6-52A017131092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0EE50E-3F8C-484F-A51D-28CCF7FEC5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36DC6F-4EDE-4761-824D-F157122F23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5C0F8D-6DD9-4748-B6F5-D201AC96E2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F07BEC-CB52-4BB6-8D22-C275A4F998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ecef74e8dc4f13" /><Relationship Type="http://schemas.openxmlformats.org/officeDocument/2006/relationships/slideLayout" Target="/ppt/slideLayouts/slideLayout1.xml" Id="Rc1c7d77dc1e14ca0" /><Relationship Type="http://schemas.openxmlformats.org/officeDocument/2006/relationships/slideLayout" Target="/ppt/slideLayouts/slideLayout2.xml" Id="R947d6006d23b4f5d" /><Relationship Type="http://schemas.openxmlformats.org/officeDocument/2006/relationships/slideLayout" Target="/ppt/slideLayouts/slideLayout3.xml" Id="R841a25ec548d431f" /><Relationship Type="http://schemas.openxmlformats.org/officeDocument/2006/relationships/slideLayout" Target="/ppt/slideLayouts/slideLayout4.xml" Id="Reca10298827c41f2" /><Relationship Type="http://schemas.openxmlformats.org/officeDocument/2006/relationships/slideLayout" Target="/ppt/slideLayouts/slideLayout5.xml" Id="R5068d6b6f01b4bb0" /><Relationship Type="http://schemas.openxmlformats.org/officeDocument/2006/relationships/slideLayout" Target="/ppt/slideLayouts/slideLayout6.xml" Id="R3cdefe877ed648df" /><Relationship Type="http://schemas.openxmlformats.org/officeDocument/2006/relationships/slideLayout" Target="/ppt/slideLayouts/slideLayout7.xml" Id="R103ecfcdbda046aa" /><Relationship Type="http://schemas.openxmlformats.org/officeDocument/2006/relationships/slideLayout" Target="/ppt/slideLayouts/slideLayout8.xml" Id="R70a76e7e9c6348ef" /><Relationship Type="http://schemas.openxmlformats.org/officeDocument/2006/relationships/slideLayout" Target="/ppt/slideLayouts/slideLayout9.xml" Id="R1d79b2741bf9461b" /><Relationship Type="http://schemas.openxmlformats.org/officeDocument/2006/relationships/slideLayout" Target="/ppt/slideLayouts/slideLayout10.xml" Id="Rff46392c8d9b4e66" /><Relationship Type="http://schemas.openxmlformats.org/officeDocument/2006/relationships/slideLayout" Target="/ppt/slideLayouts/slideLayout11.xml" Id="Rb1e9737b453345b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2A7D6E5-2F4F-4F45-9C53-99FBE3ECB1BB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F03453-72CC-424C-970E-E2270CD7F3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7366D9-2272-4D7C-B81D-C55AD8EDCDC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C2733D-F543-48D2-B341-040D43CB28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C2FD65-F354-4C87-AC45-2C1BCB8EBC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c7d77dc1e14ca0"/>
    <p:sldLayoutId xmlns:r="http://schemas.openxmlformats.org/officeDocument/2006/relationships" id="2147483650" r:id="R947d6006d23b4f5d"/>
    <p:sldLayoutId xmlns:r="http://schemas.openxmlformats.org/officeDocument/2006/relationships" id="2147483651" r:id="R841a25ec548d431f"/>
    <p:sldLayoutId xmlns:r="http://schemas.openxmlformats.org/officeDocument/2006/relationships" id="2147483652" r:id="Reca10298827c41f2"/>
    <p:sldLayoutId xmlns:r="http://schemas.openxmlformats.org/officeDocument/2006/relationships" id="2147483653" r:id="R5068d6b6f01b4bb0"/>
    <p:sldLayoutId xmlns:r="http://schemas.openxmlformats.org/officeDocument/2006/relationships" id="2147483654" r:id="R3cdefe877ed648df"/>
    <p:sldLayoutId xmlns:r="http://schemas.openxmlformats.org/officeDocument/2006/relationships" id="2147483655" r:id="R103ecfcdbda046aa"/>
    <p:sldLayoutId xmlns:r="http://schemas.openxmlformats.org/officeDocument/2006/relationships" id="2147483656" r:id="R70a76e7e9c6348ef"/>
    <p:sldLayoutId xmlns:r="http://schemas.openxmlformats.org/officeDocument/2006/relationships" id="2147483657" r:id="R1d79b2741bf9461b"/>
    <p:sldLayoutId xmlns:r="http://schemas.openxmlformats.org/officeDocument/2006/relationships" id="2147483658" r:id="Rff46392c8d9b4e66"/>
    <p:sldLayoutId xmlns:r="http://schemas.openxmlformats.org/officeDocument/2006/relationships" id="2147483659" r:id="Rb1e9737b453345bf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268b02d3944d62" /><Relationship Type="http://schemas.openxmlformats.org/officeDocument/2006/relationships/image" Target="/ppt/media/image.png" Id="R46f77175c9584707" /><Relationship Type="http://schemas.openxmlformats.org/officeDocument/2006/relationships/image" Target="/ppt/media/image.svg" Id="R80c98824c5044d1d" /><Relationship Type="http://schemas.openxmlformats.org/officeDocument/2006/relationships/image" Target="/ppt/media/image2.png" Id="R3c80bd594697446e" /><Relationship Type="http://schemas.openxmlformats.org/officeDocument/2006/relationships/image" Target="/ppt/media/image3.png" Id="Rf403dd6a8b194f43" /><Relationship Type="http://schemas.openxmlformats.org/officeDocument/2006/relationships/image" Target="/ppt/media/image4.png" Id="R164c778ac0624b3a" /><Relationship Type="http://schemas.openxmlformats.org/officeDocument/2006/relationships/notesSlide" Target="/ppt/notesSlides/notesSlide1.xml" Id="R68f16e9570984b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2d95800f9741e3" /><Relationship Type="http://schemas.openxmlformats.org/officeDocument/2006/relationships/image" Target="/ppt/media/image.png" Id="Rf63c19bbd21e458c" /><Relationship Type="http://schemas.openxmlformats.org/officeDocument/2006/relationships/image" Target="/ppt/media/image.svg" Id="R0f13ba48e2f54269" /><Relationship Type="http://schemas.openxmlformats.org/officeDocument/2006/relationships/image" Target="/ppt/media/image2.png" Id="Rb4fbce7582ac4b88" /><Relationship Type="http://schemas.openxmlformats.org/officeDocument/2006/relationships/image" Target="/ppt/media/image3.png" Id="R7a845ce8d57d4d10" /><Relationship Type="http://schemas.openxmlformats.org/officeDocument/2006/relationships/image" Target="/ppt/media/image4.png" Id="R09c95d8770d24720" /><Relationship Type="http://schemas.openxmlformats.org/officeDocument/2006/relationships/notesSlide" Target="/ppt/notesSlides/notesSlide2.xml" Id="Re277ebe7fe644c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d62ee38c014fdc" /><Relationship Type="http://schemas.openxmlformats.org/officeDocument/2006/relationships/image" Target="/ppt/media/image.png" Id="R3acf43dd56164a1d" /><Relationship Type="http://schemas.openxmlformats.org/officeDocument/2006/relationships/image" Target="/ppt/media/image.svg" Id="Rf33cf44b5bd3489c" /><Relationship Type="http://schemas.openxmlformats.org/officeDocument/2006/relationships/image" Target="/ppt/media/image2.png" Id="R2d696aa856d84d1e" /><Relationship Type="http://schemas.openxmlformats.org/officeDocument/2006/relationships/image" Target="/ppt/media/image5.png" Id="R468b1d385232413d" /><Relationship Type="http://schemas.openxmlformats.org/officeDocument/2006/relationships/notesSlide" Target="/ppt/notesSlides/notesSlide3.xml" Id="R94c59b57faf946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52b0ffcb24484a" /><Relationship Type="http://schemas.openxmlformats.org/officeDocument/2006/relationships/image" Target="/ppt/media/image.png" Id="Ra8571735b2024d3c" /><Relationship Type="http://schemas.openxmlformats.org/officeDocument/2006/relationships/image" Target="/ppt/media/image.svg" Id="R5a9501b210674b92" /><Relationship Type="http://schemas.openxmlformats.org/officeDocument/2006/relationships/image" Target="/ppt/media/image2.png" Id="Rf3e9c04ee2374009" /><Relationship Type="http://schemas.openxmlformats.org/officeDocument/2006/relationships/notesSlide" Target="/ppt/notesSlides/notesSlide4.xml" Id="R24576b129dcf48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6dcd9c21644055" /><Relationship Type="http://schemas.openxmlformats.org/officeDocument/2006/relationships/image" Target="/ppt/media/image.png" Id="Rb4dab1be2e3c4b6b" /><Relationship Type="http://schemas.openxmlformats.org/officeDocument/2006/relationships/image" Target="/ppt/media/image.svg" Id="R9356149a02254369" /><Relationship Type="http://schemas.openxmlformats.org/officeDocument/2006/relationships/image" Target="/ppt/media/image2.png" Id="Ra47fc0a211c24da9" /><Relationship Type="http://schemas.openxmlformats.org/officeDocument/2006/relationships/notesSlide" Target="/ppt/notesSlides/notesSlide5.xml" Id="R3e36c6747d304f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b002887c974e4e" /><Relationship Type="http://schemas.openxmlformats.org/officeDocument/2006/relationships/image" Target="/ppt/media/image.png" Id="Rc189b437c7ef4627" /><Relationship Type="http://schemas.openxmlformats.org/officeDocument/2006/relationships/image" Target="/ppt/media/image.svg" Id="R89d1e4ec9c1c4c8a" /><Relationship Type="http://schemas.openxmlformats.org/officeDocument/2006/relationships/image" Target="/ppt/media/image2.png" Id="R738c98f6c88c452e" /><Relationship Type="http://schemas.openxmlformats.org/officeDocument/2006/relationships/notesSlide" Target="/ppt/notesSlides/notesSlide6.xml" Id="R3acfed4a7d4f4a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919d0c104d4918" /><Relationship Type="http://schemas.openxmlformats.org/officeDocument/2006/relationships/image" Target="/ppt/media/image.png" Id="R8aec8254288e497a" /><Relationship Type="http://schemas.openxmlformats.org/officeDocument/2006/relationships/image" Target="/ppt/media/image.svg" Id="Rdb6bc14a6f4b489d" /><Relationship Type="http://schemas.openxmlformats.org/officeDocument/2006/relationships/image" Target="/ppt/media/image2.png" Id="R7efb5c0fdaf048da" /><Relationship Type="http://schemas.openxmlformats.org/officeDocument/2006/relationships/notesSlide" Target="/ppt/notesSlides/notesSlide7.xml" Id="R5288dc944c5d4e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a7da04e63b4ac8" /><Relationship Type="http://schemas.openxmlformats.org/officeDocument/2006/relationships/image" Target="/ppt/media/image.png" Id="R8b97b7477ecf4096" /><Relationship Type="http://schemas.openxmlformats.org/officeDocument/2006/relationships/image" Target="/ppt/media/image.svg" Id="R2bcfa881a5a34ebb" /><Relationship Type="http://schemas.openxmlformats.org/officeDocument/2006/relationships/image" Target="/ppt/media/image2.png" Id="R2f8940d98d7b4d9a" /><Relationship Type="http://schemas.openxmlformats.org/officeDocument/2006/relationships/notesSlide" Target="/ppt/notesSlides/notesSlide8.xml" Id="Ra019a86f48584c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f5bbee0bc04c1c" /><Relationship Type="http://schemas.openxmlformats.org/officeDocument/2006/relationships/image" Target="/ppt/media/image.png" Id="Rd1bd2549ecce46b4" /><Relationship Type="http://schemas.openxmlformats.org/officeDocument/2006/relationships/image" Target="/ppt/media/image.svg" Id="Rfd1067f1e690456b" /><Relationship Type="http://schemas.openxmlformats.org/officeDocument/2006/relationships/image" Target="/ppt/media/image2.png" Id="R11b159a63c5c4684" /><Relationship Type="http://schemas.openxmlformats.org/officeDocument/2006/relationships/notesSlide" Target="/ppt/notesSlides/notesSlide9.xml" Id="Rf34d24b15a5849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987976a7fd4eab" /><Relationship Type="http://schemas.openxmlformats.org/officeDocument/2006/relationships/image" Target="/ppt/media/image.png" Id="Rf02a6826da2240d2" /><Relationship Type="http://schemas.openxmlformats.org/officeDocument/2006/relationships/image" Target="/ppt/media/image.svg" Id="R71ad8e5d6c8943ca" /><Relationship Type="http://schemas.openxmlformats.org/officeDocument/2006/relationships/image" Target="/ppt/media/image2.png" Id="Rd89ace8951a74174" /><Relationship Type="http://schemas.openxmlformats.org/officeDocument/2006/relationships/notesSlide" Target="/ppt/notesSlides/notesSlide10.xml" Id="R56c1b4f1b26740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6395DB5-8D70-44E2-A88F-4BCEDFDC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6f77175c9584707">
              <a:extLst>
                <a:ext uri="{96DAC541-7B7A-43D3-8B79-37D633B846F1}">
                  <asvg:svgBlip xmlns:asvg="http://schemas.microsoft.com/office/drawing/2016/SVG/main" r:embed="R80c98824c5044d1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C1DF96D-6E85-41A9-9000-6FB4B284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6f77175c9584707">
              <a:extLst>
                <a:ext uri="{96DAC541-7B7A-43D3-8B79-37D633B846F1}">
                  <asvg:svgBlip xmlns:asvg="http://schemas.microsoft.com/office/drawing/2016/SVG/main" r:embed="R80c98824c5044d1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BB02BAE-7EE2-46A3-B923-DB57AB7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32993" y="-234171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80bd594697446e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CD2E561-0158-4BC2-9409-A9B6A2FF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132180" y="-2184530"/>
            <a:ext cx="6726012" cy="2679195"/>
          </a:xfrm>
          <a:custGeom xmlns:a="http://schemas.openxmlformats.org/drawingml/2006/main">
            <a:rect l="l" t="t" r="r" b="b"/>
            <a:pathLst>
              <a:path w="6726012" h="2679195">
                <a:moveTo>
                  <a:pt x="0" y="0"/>
                </a:moveTo>
                <a:lnTo>
                  <a:pt x="6726012" y="0"/>
                </a:lnTo>
                <a:lnTo>
                  <a:pt x="6726012" y="2679195"/>
                </a:lnTo>
                <a:lnTo>
                  <a:pt x="0" y="267919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03dd6a8b194f43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0144EDBE-9AA8-43FC-B69C-720F8E16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832" y="10137500"/>
            <a:ext cx="18288000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"The combination of weak passwords and weak hashing algorithms significantly increases the risk of password recovery after a data breach. Modern AI-based password guessing tools such as PassGAN can exploit predictable password patterns, making strong hashing mechanisms essential for user security.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E3F47D6-91EB-4317-9E69-9605927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5708" y="1192697"/>
            <a:ext cx="2445068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  <a:r>
              <a:rPr sz="3399">
                <a:solidFill>
                  <a:srgbClr val="000000"/>
                </a:solidFill>
                <a:latin typeface="Canva Sans"/>
                <a:ea typeface="Canva Sans"/>
                <a:cs typeface="Canva Sans"/>
              </a:rPr>
              <a:t>Project title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793893D-D8AA-4648-BFCB-1C0DED02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7520" y="7024775"/>
            <a:ext cx="4263896" cy="1180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buNone/>
            </a:pPr>
            <a:r>
              <a:rPr sz="3399">
                <a:solidFill>
                  <a:srgbClr val="000000"/>
                </a:solidFill>
                <a:latin typeface="Canva Sans"/>
                <a:ea typeface="Canva Sans"/>
                <a:cs typeface="Canva Sans"/>
              </a:rPr>
              <a:t>Presented by:</a:t>
            </a:r>
          </a:p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0C9C9C5-2AA2-4BDA-B18E-E331C835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031589" y="5933758"/>
            <a:ext cx="17405534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AI has not broken cryptography itself. Instead, it has become highly effective at exploiting human-created password patterns. Organizations must use strong password hashing algorithms (bcrypt, Argon2, PBKDF2) and enforce strong password policies to protect users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0FE6EB3-120E-4C54-B855-134779A1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53586" y="9900690"/>
            <a:ext cx="4177732" cy="5234850"/>
          </a:xfrm>
          <a:custGeom xmlns:a="http://schemas.openxmlformats.org/drawingml/2006/main">
            <a:rect l="l" t="t" r="r" b="b"/>
            <a:pathLst>
              <a:path w="4177732" h="5234850">
                <a:moveTo>
                  <a:pt x="0" y="0"/>
                </a:moveTo>
                <a:lnTo>
                  <a:pt x="4177732" y="0"/>
                </a:lnTo>
                <a:lnTo>
                  <a:pt x="4177732" y="5234850"/>
                </a:lnTo>
                <a:lnTo>
                  <a:pt x="0" y="52348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64c778ac0624b3a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B09E21A-D1A2-472B-BA64-4FE6B2F0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894715"/>
            <a:ext cx="14798349" cy="894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7279"/>
              </a:lnSpc>
              <a:buNone/>
            </a:pPr>
            <a:r>
              <a:rPr sz="5199" b="1" i="1" spc="-18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Why Password hashing is important?</a:t>
            </a:r>
          </a:p>
        </p:txBody>
      </p:sp>
    </p:spTree>
    <p:extLst>
      <p:ext uri="{BB962C8B-B14F-4D97-AF65-F5344CB8AC3E}">
        <p14:creationId xmlns:p14="http://schemas.microsoft.com/office/powerpoint/2010/main" val="262947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4D08AD0-8F25-4C31-AD52-9F1137E0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3c19bbd21e458c">
              <a:extLst>
                <a:ext uri="{96DAC541-7B7A-43D3-8B79-37D633B846F1}">
                  <asvg:svgBlip xmlns:asvg="http://schemas.microsoft.com/office/drawing/2016/SVG/main" r:embed="R0f13ba48e2f542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4E3E0D9-E5E3-41B5-B92B-C0B4B73F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3c19bbd21e458c">
              <a:extLst>
                <a:ext uri="{96DAC541-7B7A-43D3-8B79-37D633B846F1}">
                  <asvg:svgBlip xmlns:asvg="http://schemas.microsoft.com/office/drawing/2016/SVG/main" r:embed="R0f13ba48e2f542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244C11E-EFB0-4D49-AEC2-D30D76B8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fbce7582ac4b88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D6F3BA3-B1E3-43E2-B1C8-35E25592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3999" y="1028700"/>
            <a:ext cx="6726012" cy="2679195"/>
          </a:xfrm>
          <a:custGeom xmlns:a="http://schemas.openxmlformats.org/drawingml/2006/main">
            <a:rect l="l" t="t" r="r" b="b"/>
            <a:pathLst>
              <a:path w="6726012" h="2679195">
                <a:moveTo>
                  <a:pt x="0" y="0"/>
                </a:moveTo>
                <a:lnTo>
                  <a:pt x="6726012" y="0"/>
                </a:lnTo>
                <a:lnTo>
                  <a:pt x="6726012" y="2679195"/>
                </a:lnTo>
                <a:lnTo>
                  <a:pt x="0" y="267919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a845ce8d57d4d10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C06D5B6-87DC-4EF3-9CD0-8BADA791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816" y="3974032"/>
            <a:ext cx="17694367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The combination of weak passwords and weak hashing algorithms significantly increases the risk of password recovery after a data breach. Modern AI-based password guessing tools such as PassGAN can exploit predictable password patterns, making strong hashing mechanisms essential for user security.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7CC074C-1DB0-4CC6-9E65-CABFE38C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233" y="6877685"/>
            <a:ext cx="17846767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AI has not broken cryptography itself. Instead, it has become highly effective at exploiting human-created password patterns. Organizations must use strong password hashing algorithms (bcrypt, Argon2, PBKDF2) and enforce strong password policies to protect users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9BA02D7-64EE-4A53-BCB4-3DA7299B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98906" y="151321"/>
            <a:ext cx="2983206" cy="3738065"/>
          </a:xfrm>
          <a:custGeom xmlns:a="http://schemas.openxmlformats.org/drawingml/2006/main">
            <a:rect l="l" t="t" r="r" b="b"/>
            <a:pathLst>
              <a:path w="2983206" h="3738065">
                <a:moveTo>
                  <a:pt x="0" y="0"/>
                </a:moveTo>
                <a:lnTo>
                  <a:pt x="2983205" y="0"/>
                </a:lnTo>
                <a:lnTo>
                  <a:pt x="2983205" y="3738065"/>
                </a:lnTo>
                <a:lnTo>
                  <a:pt x="0" y="373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9c95d8770d24720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54737E8-D153-4F68-A3E8-A14723CC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894715"/>
            <a:ext cx="14798349" cy="894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7279"/>
              </a:lnSpc>
              <a:buNone/>
            </a:pPr>
            <a:r>
              <a:rPr sz="5199" b="1" i="1" spc="-18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Why Password hashing is important?</a:t>
            </a:r>
          </a:p>
        </p:txBody>
      </p:sp>
    </p:spTree>
    <p:extLst>
      <p:ext uri="{BB962C8B-B14F-4D97-AF65-F5344CB8AC3E}">
        <p14:creationId xmlns:p14="http://schemas.microsoft.com/office/powerpoint/2010/main" val="227614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acf43dd56164a1d">
              <a:extLst>
                <a:ext uri="{96DAC541-7B7A-43D3-8B79-37D633B846F1}">
                  <asvg:svgBlip xmlns:asvg="http://schemas.microsoft.com/office/drawing/2016/SVG/main" r:embed="Rf33cf44b5bd3489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acf43dd56164a1d">
              <a:extLst>
                <a:ext uri="{96DAC541-7B7A-43D3-8B79-37D633B846F1}">
                  <asvg:svgBlip xmlns:asvg="http://schemas.microsoft.com/office/drawing/2016/SVG/main" r:embed="Rf33cf44b5bd3489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d696aa856d84d1e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7302CD4-65B2-42D0-A4ED-EDBC5F25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1195" y="784509"/>
            <a:ext cx="12445610" cy="8297074"/>
          </a:xfrm>
          <a:custGeom xmlns:a="http://schemas.openxmlformats.org/drawingml/2006/main">
            <a:rect l="l" t="t" r="r" b="b"/>
            <a:pathLst>
              <a:path w="12445610" h="8297074">
                <a:moveTo>
                  <a:pt x="0" y="0"/>
                </a:moveTo>
                <a:lnTo>
                  <a:pt x="12445610" y="0"/>
                </a:lnTo>
                <a:lnTo>
                  <a:pt x="12445610" y="8297073"/>
                </a:lnTo>
                <a:lnTo>
                  <a:pt x="0" y="82970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68b1d385232413d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DC6EEDE-49B0-4691-9028-950D5C1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894715"/>
            <a:ext cx="14798349" cy="894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7279"/>
              </a:lnSpc>
              <a:buNone/>
            </a:pPr>
            <a:r>
              <a:rPr sz="5199" b="1" i="1" spc="-18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Why Password hashing is important?</a:t>
            </a:r>
          </a:p>
        </p:txBody>
      </p:sp>
      <p:sp>
        <p:nvSpPr>
          <p:cNvPr id="7" name="slide-3-corrected-workflow">
            <a:extLst xmlns:a="http://schemas.openxmlformats.org/drawingml/2006/main">
              <a:ext uri="{FF2B5EF4-FFF2-40B4-BE49-F238E27FC236}">
                <a16:creationId xmlns:a16="http://schemas.microsoft.com/office/drawing/2014/main" id="{387FCBEB-A732-4A12-929E-8C99ADFD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524750"/>
            <a:ext cx="12192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9050">
            <a:solidFill>
              <a:srgbClr val="005AE0"/>
            </a:solidFill>
            <a:prstDash val="solid"/>
          </a:ln>
        </p:spPr>
      </p:sp>
      <p:sp>
        <p:nvSpPr>
          <p:cNvPr id="8" name="slide-3-path-entry">
            <a:extLst xmlns:a="http://schemas.openxmlformats.org/drawingml/2006/main">
              <a:ext uri="{FF2B5EF4-FFF2-40B4-BE49-F238E27FC236}">
                <a16:creationId xmlns:a16="http://schemas.microsoft.com/office/drawing/2014/main" id="{75DFDC06-1BA0-4730-BAE0-354365CA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6009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 Input</a:t>
            </a:r>
          </a:p>
        </p:txBody>
      </p:sp>
      <p:sp>
        <p:nvSpPr>
          <p:cNvPr id="9" name="slide-3-path-arrow-1">
            <a:extLst xmlns:a="http://schemas.openxmlformats.org/drawingml/2006/main">
              <a:ext uri="{FF2B5EF4-FFF2-40B4-BE49-F238E27FC236}">
                <a16:creationId xmlns:a16="http://schemas.microsoft.com/office/drawing/2014/main" id="{D6A77059-86FD-4A50-A19D-B32DA3B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667625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0" name="slide-3-path-analysis">
            <a:extLst xmlns:a="http://schemas.openxmlformats.org/drawingml/2006/main">
              <a:ext uri="{FF2B5EF4-FFF2-40B4-BE49-F238E27FC236}">
                <a16:creationId xmlns:a16="http://schemas.microsoft.com/office/drawing/2014/main" id="{8C06264C-08B5-4ED6-8004-F26A9D90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600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Heuristic Analysis</a:t>
            </a:r>
          </a:p>
        </p:txBody>
      </p:sp>
      <p:sp>
        <p:nvSpPr>
          <p:cNvPr id="11" name="slide-3-path-arrow-2">
            <a:extLst xmlns:a="http://schemas.openxmlformats.org/drawingml/2006/main">
              <a:ext uri="{FF2B5EF4-FFF2-40B4-BE49-F238E27FC236}">
                <a16:creationId xmlns:a16="http://schemas.microsoft.com/office/drawing/2014/main" id="{2B18BD19-054E-4D85-9841-AFD9C6E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667625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2" name="slide-3-path-result">
            <a:extLst xmlns:a="http://schemas.openxmlformats.org/drawingml/2006/main">
              <a:ext uri="{FF2B5EF4-FFF2-40B4-BE49-F238E27FC236}">
                <a16:creationId xmlns:a16="http://schemas.microsoft.com/office/drawing/2014/main" id="{172AEEA9-87BC-4D88-80A9-2D1DFBB4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60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Final Result</a:t>
            </a:r>
          </a:p>
        </p:txBody>
      </p:sp>
      <p:sp>
        <p:nvSpPr>
          <p:cNvPr id="13" name="slide-3-simulation-boundary">
            <a:extLst xmlns:a="http://schemas.openxmlformats.org/drawingml/2006/main">
              <a:ext uri="{FF2B5EF4-FFF2-40B4-BE49-F238E27FC236}">
                <a16:creationId xmlns:a16="http://schemas.microsoft.com/office/drawing/2014/main" id="{97AD9A07-4E84-40EF-9532-5FFC069D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8029575"/>
            <a:ext cx="11696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Separate synthetic candidate-index simulation. It does not hash or crack the submitted password.</a:t>
            </a:r>
          </a:p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Its throughput does not feed the educational estimate.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8571735b2024d3c">
              <a:extLst>
                <a:ext uri="{96DAC541-7B7A-43D3-8B79-37D633B846F1}">
                  <asvg:svgBlip xmlns:asvg="http://schemas.microsoft.com/office/drawing/2016/SVG/main" r:embed="R5a9501b210674b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8571735b2024d3c">
              <a:extLst>
                <a:ext uri="{96DAC541-7B7A-43D3-8B79-37D633B846F1}">
                  <asvg:svgBlip xmlns:asvg="http://schemas.microsoft.com/office/drawing/2016/SVG/main" r:embed="R5a9501b210674b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e9c04ee2374009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3306F8-F368-44E3-9D5A-4D55DBBA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Implementation Map: Project Folder Structure</a:t>
            </a:r>
          </a:p>
        </p:txBody>
      </p:sp>
      <p:sp>
        <p:nvSpPr>
          <p:cNvPr id="6" name="tree-root">
            <a:extLst xmlns:a="http://schemas.openxmlformats.org/drawingml/2006/main">
              <a:ext uri="{FF2B5EF4-FFF2-40B4-BE49-F238E27FC236}">
                <a16:creationId xmlns:a16="http://schemas.microsoft.com/office/drawing/2014/main" id="{8CDE4CF6-40C7-4692-900C-088D720A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33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ASTRA AI  /  Maven JavaFX project</a:t>
            </a:r>
          </a:p>
        </p:txBody>
      </p:sp>
      <p:sp>
        <p:nvSpPr>
          <p:cNvPr id="7" name="tree-panel">
            <a:extLst xmlns:a="http://schemas.openxmlformats.org/drawingml/2006/main">
              <a:ext uri="{FF2B5EF4-FFF2-40B4-BE49-F238E27FC236}">
                <a16:creationId xmlns:a16="http://schemas.microsoft.com/office/drawing/2014/main" id="{E77C13E8-592F-4F3B-ADD2-ED7B7379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9286875" cy="657225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7F9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8" name="tree-name-0">
            <a:extLst xmlns:a="http://schemas.openxmlformats.org/drawingml/2006/main">
              <a:ext uri="{FF2B5EF4-FFF2-40B4-BE49-F238E27FC236}">
                <a16:creationId xmlns:a16="http://schemas.microsoft.com/office/drawing/2014/main" id="{6620403D-FADD-4863-9DA2-43CBED52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pom.xml</a:t>
            </a:r>
          </a:p>
        </p:txBody>
      </p:sp>
      <p:sp>
        <p:nvSpPr>
          <p:cNvPr id="9" name="tree-desc-0">
            <a:extLst xmlns:a="http://schemas.openxmlformats.org/drawingml/2006/main">
              <a:ext uri="{FF2B5EF4-FFF2-40B4-BE49-F238E27FC236}">
                <a16:creationId xmlns:a16="http://schemas.microsoft.com/office/drawing/2014/main" id="{D35ACCC3-4B28-4547-8F4F-5A0C0FB3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Dependencies, Java 21 build and JavaFX launch configuration</a:t>
            </a:r>
          </a:p>
        </p:txBody>
      </p:sp>
      <p:sp>
        <p:nvSpPr>
          <p:cNvPr id="10" name="tree-rule-0">
            <a:extLst xmlns:a="http://schemas.openxmlformats.org/drawingml/2006/main">
              <a:ext uri="{FF2B5EF4-FFF2-40B4-BE49-F238E27FC236}">
                <a16:creationId xmlns:a16="http://schemas.microsoft.com/office/drawing/2014/main" id="{38EB8CEE-4619-4687-A84E-A67F1301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823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A"/>
          </a:solidFill>
          <a:ln xmlns:a="http://schemas.openxmlformats.org/drawingml/2006/main" w="19050">
            <a:solidFill>
              <a:srgbClr val="DCE6FA"/>
            </a:solidFill>
            <a:prstDash val="solid"/>
          </a:ln>
        </p:spPr>
      </p:sp>
      <p:sp>
        <p:nvSpPr>
          <p:cNvPr id="11" name="tree-name-1">
            <a:extLst xmlns:a="http://schemas.openxmlformats.org/drawingml/2006/main">
              <a:ext uri="{FF2B5EF4-FFF2-40B4-BE49-F238E27FC236}">
                <a16:creationId xmlns:a16="http://schemas.microsoft.com/office/drawing/2014/main" id="{8DD5B180-4D65-4E3A-9F13-10845728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src/main/java/module-info.java</a:t>
            </a:r>
          </a:p>
        </p:txBody>
      </p:sp>
      <p:sp>
        <p:nvSpPr>
          <p:cNvPr id="12" name="tree-desc-1">
            <a:extLst xmlns:a="http://schemas.openxmlformats.org/drawingml/2006/main">
              <a:ext uri="{FF2B5EF4-FFF2-40B4-BE49-F238E27FC236}">
                <a16:creationId xmlns:a16="http://schemas.microsoft.com/office/drawing/2014/main" id="{4007C1F8-85B0-4749-B031-4CCBD93D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Java module declarations</a:t>
            </a:r>
          </a:p>
        </p:txBody>
      </p:sp>
      <p:sp>
        <p:nvSpPr>
          <p:cNvPr id="13" name="tree-rule-1">
            <a:extLst xmlns:a="http://schemas.openxmlformats.org/drawingml/2006/main">
              <a:ext uri="{FF2B5EF4-FFF2-40B4-BE49-F238E27FC236}">
                <a16:creationId xmlns:a16="http://schemas.microsoft.com/office/drawing/2014/main" id="{18041FBD-8624-433A-9855-57B671B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823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A"/>
          </a:solidFill>
          <a:ln xmlns:a="http://schemas.openxmlformats.org/drawingml/2006/main" w="19050">
            <a:solidFill>
              <a:srgbClr val="DCE6FA"/>
            </a:solidFill>
            <a:prstDash val="solid"/>
          </a:ln>
        </p:spPr>
      </p:sp>
      <p:sp>
        <p:nvSpPr>
          <p:cNvPr id="14" name="tree-name-2">
            <a:extLst xmlns:a="http://schemas.openxmlformats.org/drawingml/2006/main">
              <a:ext uri="{FF2B5EF4-FFF2-40B4-BE49-F238E27FC236}">
                <a16:creationId xmlns:a16="http://schemas.microsoft.com/office/drawing/2014/main" id="{061D1856-030C-4FB6-A3AB-FABB12B0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└─ com/astraai/Main.java</a:t>
            </a:r>
          </a:p>
        </p:txBody>
      </p:sp>
      <p:sp>
        <p:nvSpPr>
          <p:cNvPr id="15" name="tree-desc-2">
            <a:extLst xmlns:a="http://schemas.openxmlformats.org/drawingml/2006/main">
              <a:ext uri="{FF2B5EF4-FFF2-40B4-BE49-F238E27FC236}">
                <a16:creationId xmlns:a16="http://schemas.microsoft.com/office/drawing/2014/main" id="{D4AFD413-C407-47B2-BBB9-05357085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386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Application entry point</a:t>
            </a:r>
          </a:p>
        </p:txBody>
      </p:sp>
      <p:sp>
        <p:nvSpPr>
          <p:cNvPr id="16" name="tree-rule-2">
            <a:extLst xmlns:a="http://schemas.openxmlformats.org/drawingml/2006/main">
              <a:ext uri="{FF2B5EF4-FFF2-40B4-BE49-F238E27FC236}">
                <a16:creationId xmlns:a16="http://schemas.microsoft.com/office/drawing/2014/main" id="{C4A2D726-D3E9-4889-AE6F-7460634C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823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A"/>
          </a:solidFill>
          <a:ln xmlns:a="http://schemas.openxmlformats.org/drawingml/2006/main" w="19050">
            <a:solidFill>
              <a:srgbClr val="DCE6FA"/>
            </a:solidFill>
            <a:prstDash val="solid"/>
          </a:ln>
        </p:spPr>
      </p:sp>
      <p:sp>
        <p:nvSpPr>
          <p:cNvPr id="17" name="tree-name-3">
            <a:extLst xmlns:a="http://schemas.openxmlformats.org/drawingml/2006/main">
              <a:ext uri="{FF2B5EF4-FFF2-40B4-BE49-F238E27FC236}">
                <a16:creationId xmlns:a16="http://schemas.microsoft.com/office/drawing/2014/main" id="{5D1CED0D-F4AF-4CC2-B0BB-C868CA9D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   ├─ App.java · AppMetadata.java</a:t>
            </a:r>
          </a:p>
        </p:txBody>
      </p:sp>
      <p:sp>
        <p:nvSpPr>
          <p:cNvPr id="18" name="tree-desc-3">
            <a:extLst xmlns:a="http://schemas.openxmlformats.org/drawingml/2006/main">
              <a:ext uri="{FF2B5EF4-FFF2-40B4-BE49-F238E27FC236}">
                <a16:creationId xmlns:a16="http://schemas.microsoft.com/office/drawing/2014/main" id="{FA94EC0D-B914-4B52-96CB-293FC52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1965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Stage lifecycle and window metadata</a:t>
            </a:r>
          </a:p>
        </p:txBody>
      </p:sp>
      <p:sp>
        <p:nvSpPr>
          <p:cNvPr id="19" name="tree-rule-3">
            <a:extLst xmlns:a="http://schemas.openxmlformats.org/drawingml/2006/main">
              <a:ext uri="{FF2B5EF4-FFF2-40B4-BE49-F238E27FC236}">
                <a16:creationId xmlns:a16="http://schemas.microsoft.com/office/drawing/2014/main" id="{5685EE03-56F7-4987-A89D-E0884228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91150"/>
            <a:ext cx="823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A"/>
          </a:solidFill>
          <a:ln xmlns:a="http://schemas.openxmlformats.org/drawingml/2006/main" w="19050">
            <a:solidFill>
              <a:srgbClr val="DCE6FA"/>
            </a:solidFill>
            <a:prstDash val="solid"/>
          </a:ln>
        </p:spPr>
      </p:sp>
      <p:sp>
        <p:nvSpPr>
          <p:cNvPr id="20" name="tree-name-4">
            <a:extLst xmlns:a="http://schemas.openxmlformats.org/drawingml/2006/main">
              <a:ext uri="{FF2B5EF4-FFF2-40B4-BE49-F238E27FC236}">
                <a16:creationId xmlns:a16="http://schemas.microsoft.com/office/drawing/2014/main" id="{2FBAE843-9395-4B93-B002-AF421D92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007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   ├─ ui/</a:t>
            </a:r>
          </a:p>
        </p:txBody>
      </p:sp>
      <p:sp>
        <p:nvSpPr>
          <p:cNvPr id="21" name="tree-desc-4">
            <a:extLst xmlns:a="http://schemas.openxmlformats.org/drawingml/2006/main">
              <a:ext uri="{FF2B5EF4-FFF2-40B4-BE49-F238E27FC236}">
                <a16:creationId xmlns:a16="http://schemas.microsoft.com/office/drawing/2014/main" id="{55B8A0D1-078C-4E14-AE22-EFFDD2CB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007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Screens, password analysis, estimates and report parsing</a:t>
            </a:r>
          </a:p>
        </p:txBody>
      </p:sp>
      <p:sp>
        <p:nvSpPr>
          <p:cNvPr id="22" name="tree-rule-4">
            <a:extLst xmlns:a="http://schemas.openxmlformats.org/drawingml/2006/main">
              <a:ext uri="{FF2B5EF4-FFF2-40B4-BE49-F238E27FC236}">
                <a16:creationId xmlns:a16="http://schemas.microsoft.com/office/drawing/2014/main" id="{153DCC3B-2E58-440A-862E-2F19A65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72200"/>
            <a:ext cx="823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A"/>
          </a:solidFill>
          <a:ln xmlns:a="http://schemas.openxmlformats.org/drawingml/2006/main" w="19050">
            <a:solidFill>
              <a:srgbClr val="DCE6FA"/>
            </a:solidFill>
            <a:prstDash val="solid"/>
          </a:ln>
        </p:spPr>
      </p:sp>
      <p:sp>
        <p:nvSpPr>
          <p:cNvPr id="23" name="tree-name-5">
            <a:extLst xmlns:a="http://schemas.openxmlformats.org/drawingml/2006/main">
              <a:ext uri="{FF2B5EF4-FFF2-40B4-BE49-F238E27FC236}">
                <a16:creationId xmlns:a16="http://schemas.microsoft.com/office/drawing/2014/main" id="{A02481F8-73E3-4178-82F5-3873041C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817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   └─ simulation/</a:t>
            </a:r>
          </a:p>
        </p:txBody>
      </p:sp>
      <p:sp>
        <p:nvSpPr>
          <p:cNvPr id="24" name="tree-desc-5">
            <a:extLst xmlns:a="http://schemas.openxmlformats.org/drawingml/2006/main">
              <a:ext uri="{FF2B5EF4-FFF2-40B4-BE49-F238E27FC236}">
                <a16:creationId xmlns:a16="http://schemas.microsoft.com/office/drawing/2014/main" id="{59A3BE03-8CE7-4473-9E5B-0307EFB9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8175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Synthetic tasks, agents, events and validation</a:t>
            </a:r>
          </a:p>
        </p:txBody>
      </p:sp>
      <p:sp>
        <p:nvSpPr>
          <p:cNvPr id="25" name="tree-rule-5">
            <a:extLst xmlns:a="http://schemas.openxmlformats.org/drawingml/2006/main">
              <a:ext uri="{FF2B5EF4-FFF2-40B4-BE49-F238E27FC236}">
                <a16:creationId xmlns:a16="http://schemas.microsoft.com/office/drawing/2014/main" id="{73D85815-DDDE-4636-AE71-02EF7C4D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53250"/>
            <a:ext cx="823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A"/>
          </a:solidFill>
          <a:ln xmlns:a="http://schemas.openxmlformats.org/drawingml/2006/main" w="19050">
            <a:solidFill>
              <a:srgbClr val="DCE6FA"/>
            </a:solidFill>
            <a:prstDash val="solid"/>
          </a:ln>
        </p:spPr>
      </p:sp>
      <p:sp>
        <p:nvSpPr>
          <p:cNvPr id="26" name="tree-name-6">
            <a:extLst xmlns:a="http://schemas.openxmlformats.org/drawingml/2006/main">
              <a:ext uri="{FF2B5EF4-FFF2-40B4-BE49-F238E27FC236}">
                <a16:creationId xmlns:a16="http://schemas.microsoft.com/office/drawing/2014/main" id="{4CF83B41-873D-43FF-BF58-9AA10D1E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628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src/test/java/com/astraai/</a:t>
            </a:r>
          </a:p>
        </p:txBody>
      </p:sp>
      <p:sp>
        <p:nvSpPr>
          <p:cNvPr id="27" name="tree-desc-6">
            <a:extLst xmlns:a="http://schemas.openxmlformats.org/drawingml/2006/main">
              <a:ext uri="{FF2B5EF4-FFF2-40B4-BE49-F238E27FC236}">
                <a16:creationId xmlns:a16="http://schemas.microsoft.com/office/drawing/2014/main" id="{6D173DC3-B010-4EDC-96E1-2FF5FD47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1628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JUnit tests organized by ui/ and simulation/</a:t>
            </a:r>
          </a:p>
        </p:txBody>
      </p:sp>
      <p:sp>
        <p:nvSpPr>
          <p:cNvPr id="28" name="module-card">
            <a:extLst xmlns:a="http://schemas.openxmlformats.org/drawingml/2006/main">
              <a:ext uri="{FF2B5EF4-FFF2-40B4-BE49-F238E27FC236}">
                <a16:creationId xmlns:a16="http://schemas.microsoft.com/office/drawing/2014/main" id="{38727D19-89C8-481B-AA32-B3BA9D79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67627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9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DDF213AA-2B0F-4C73-BAC2-80D515CF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622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Two implementation packages</a:t>
            </a:r>
          </a:p>
        </p:txBody>
      </p:sp>
      <p:sp>
        <p:nvSpPr>
          <p:cNvPr id="30" name="module-ui">
            <a:extLst xmlns:a="http://schemas.openxmlformats.org/drawingml/2006/main">
              <a:ext uri="{FF2B5EF4-FFF2-40B4-BE49-F238E27FC236}">
                <a16:creationId xmlns:a16="http://schemas.microsoft.com/office/drawing/2014/main" id="{E92FF216-4794-4449-A8F4-EE0A0A51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4325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31" name="module-ui-t">
            <a:extLst xmlns:a="http://schemas.openxmlformats.org/drawingml/2006/main">
              <a:ext uri="{FF2B5EF4-FFF2-40B4-BE49-F238E27FC236}">
                <a16:creationId xmlns:a16="http://schemas.microsoft.com/office/drawing/2014/main" id="{CD254AFD-2CAE-446A-BE2B-5F022207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86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ui</a:t>
            </a:r>
          </a:p>
        </p:txBody>
      </p:sp>
      <p:sp>
        <p:nvSpPr>
          <p:cNvPr id="32" name="module-ui-d">
            <a:extLst xmlns:a="http://schemas.openxmlformats.org/drawingml/2006/main">
              <a:ext uri="{FF2B5EF4-FFF2-40B4-BE49-F238E27FC236}">
                <a16:creationId xmlns:a16="http://schemas.microsoft.com/office/drawing/2014/main" id="{2D3AC274-A0FD-4023-A431-B9F6DA17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JavaFX views + domain rules</a:t>
            </a:r>
          </a:p>
        </p:txBody>
      </p:sp>
      <p:sp>
        <p:nvSpPr>
          <p:cNvPr id="33" name="module-sim">
            <a:extLst xmlns:a="http://schemas.openxmlformats.org/drawingml/2006/main">
              <a:ext uri="{FF2B5EF4-FFF2-40B4-BE49-F238E27FC236}">
                <a16:creationId xmlns:a16="http://schemas.microsoft.com/office/drawing/2014/main" id="{CF22F57D-03D1-43EB-B1D9-370CD4F3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14325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34" name="module-sim-t">
            <a:extLst xmlns:a="http://schemas.openxmlformats.org/drawingml/2006/main">
              <a:ext uri="{FF2B5EF4-FFF2-40B4-BE49-F238E27FC236}">
                <a16:creationId xmlns:a16="http://schemas.microsoft.com/office/drawing/2014/main" id="{E00BAD0A-FBC8-4AE8-9B2A-FCA8B304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286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simulation</a:t>
            </a:r>
          </a:p>
        </p:txBody>
      </p:sp>
      <p:sp>
        <p:nvSpPr>
          <p:cNvPr id="35" name="module-sim-d">
            <a:extLst xmlns:a="http://schemas.openxmlformats.org/drawingml/2006/main">
              <a:ext uri="{FF2B5EF4-FFF2-40B4-BE49-F238E27FC236}">
                <a16:creationId xmlns:a16="http://schemas.microsoft.com/office/drawing/2014/main" id="{98971718-6212-4832-97E0-1AA3500E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714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Bounded synthetic execution</a:t>
            </a:r>
          </a:p>
        </p:txBody>
      </p:sp>
      <p:sp>
        <p:nvSpPr>
          <p:cNvPr id="36" name="test-card">
            <a:extLst xmlns:a="http://schemas.openxmlformats.org/drawingml/2006/main">
              <a:ext uri="{FF2B5EF4-FFF2-40B4-BE49-F238E27FC236}">
                <a16:creationId xmlns:a16="http://schemas.microsoft.com/office/drawing/2014/main" id="{3CF916A6-EF94-4CCF-B1AB-5E6133A1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34000"/>
            <a:ext cx="6762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37" name="test-title">
            <a:extLst xmlns:a="http://schemas.openxmlformats.org/drawingml/2006/main">
              <a:ext uri="{FF2B5EF4-FFF2-40B4-BE49-F238E27FC236}">
                <a16:creationId xmlns:a16="http://schemas.microsoft.com/office/drawing/2014/main" id="{61029EEB-34B5-4523-8E46-466086D5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6197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Tests mirror the package layout</a:t>
            </a:r>
          </a:p>
        </p:txBody>
      </p:sp>
      <p:sp>
        <p:nvSpPr>
          <p:cNvPr id="38" name="test-ui">
            <a:extLst xmlns:a="http://schemas.openxmlformats.org/drawingml/2006/main">
              <a:ext uri="{FF2B5EF4-FFF2-40B4-BE49-F238E27FC236}">
                <a16:creationId xmlns:a16="http://schemas.microsoft.com/office/drawing/2014/main" id="{50A32FFA-6EAF-407C-9C45-08C01EF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ui tests  •  input policy  •  estimator  •  KDF reports  •  screen formatting</a:t>
            </a:r>
          </a:p>
        </p:txBody>
      </p:sp>
      <p:sp>
        <p:nvSpPr>
          <p:cNvPr id="39" name="test-sim">
            <a:extLst xmlns:a="http://schemas.openxmlformats.org/drawingml/2006/main">
              <a:ext uri="{FF2B5EF4-FFF2-40B4-BE49-F238E27FC236}">
                <a16:creationId xmlns:a16="http://schemas.microsoft.com/office/drawing/2014/main" id="{CE784AA0-C444-4F40-A4C3-8155656B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572375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simulation tests  •  partitioning  •  engine lifecycle  •  result validation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dab1be2e3c4b6b">
              <a:extLst>
                <a:ext uri="{96DAC541-7B7A-43D3-8B79-37D633B846F1}">
                  <asvg:svgBlip xmlns:asvg="http://schemas.microsoft.com/office/drawing/2016/SVG/main" r:embed="R9356149a022543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dab1be2e3c4b6b">
              <a:extLst>
                <a:ext uri="{96DAC541-7B7A-43D3-8B79-37D633B846F1}">
                  <asvg:svgBlip xmlns:asvg="http://schemas.microsoft.com/office/drawing/2016/SVG/main" r:embed="R9356149a022543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47fc0a211c24da9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E1F84D-178D-459F-8592-8BEE2D23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Startup and Screen Classes</a:t>
            </a:r>
          </a:p>
        </p:txBody>
      </p:sp>
      <p:sp>
        <p:nvSpPr>
          <p:cNvPr id="6" name="startup-0">
            <a:extLst xmlns:a="http://schemas.openxmlformats.org/drawingml/2006/main">
              <a:ext uri="{FF2B5EF4-FFF2-40B4-BE49-F238E27FC236}">
                <a16:creationId xmlns:a16="http://schemas.microsoft.com/office/drawing/2014/main" id="{923C8C95-4241-4571-918A-D015AAE1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startup-name-0">
            <a:extLst xmlns:a="http://schemas.openxmlformats.org/drawingml/2006/main">
              <a:ext uri="{FF2B5EF4-FFF2-40B4-BE49-F238E27FC236}">
                <a16:creationId xmlns:a16="http://schemas.microsoft.com/office/drawing/2014/main" id="{72BBCFAE-5BB8-4FD4-8C3C-1C108703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098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Main</a:t>
            </a:r>
          </a:p>
        </p:txBody>
      </p:sp>
      <p:sp>
        <p:nvSpPr>
          <p:cNvPr id="8" name="startup-method-0">
            <a:extLst xmlns:a="http://schemas.openxmlformats.org/drawingml/2006/main">
              <a:ext uri="{FF2B5EF4-FFF2-40B4-BE49-F238E27FC236}">
                <a16:creationId xmlns:a16="http://schemas.microsoft.com/office/drawing/2014/main" id="{88E5251E-6A1B-4C5A-991E-E4DD8063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main(args)</a:t>
            </a:r>
          </a:p>
        </p:txBody>
      </p:sp>
      <p:sp>
        <p:nvSpPr>
          <p:cNvPr id="9" name="startup-desc-0">
            <a:extLst xmlns:a="http://schemas.openxmlformats.org/drawingml/2006/main">
              <a:ext uri="{FF2B5EF4-FFF2-40B4-BE49-F238E27FC236}">
                <a16:creationId xmlns:a16="http://schemas.microsoft.com/office/drawing/2014/main" id="{599DE65C-2A0E-439C-89F1-1A3CE2B5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Calls Application.launch(App.class, args)</a:t>
            </a:r>
          </a:p>
        </p:txBody>
      </p:sp>
      <p:sp>
        <p:nvSpPr>
          <p:cNvPr id="10" name="startup-arrow-0">
            <a:extLst xmlns:a="http://schemas.openxmlformats.org/drawingml/2006/main">
              <a:ext uri="{FF2B5EF4-FFF2-40B4-BE49-F238E27FC236}">
                <a16:creationId xmlns:a16="http://schemas.microsoft.com/office/drawing/2014/main" id="{B30FF406-9A2E-461D-8898-B621944A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76625"/>
            <a:ext cx="523875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1" name="startup-1">
            <a:extLst xmlns:a="http://schemas.openxmlformats.org/drawingml/2006/main">
              <a:ext uri="{FF2B5EF4-FFF2-40B4-BE49-F238E27FC236}">
                <a16:creationId xmlns:a16="http://schemas.microsoft.com/office/drawing/2014/main" id="{E98F51BB-A2FD-4BE2-B089-16F482C5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2" name="startup-name-1">
            <a:extLst xmlns:a="http://schemas.openxmlformats.org/drawingml/2006/main">
              <a:ext uri="{FF2B5EF4-FFF2-40B4-BE49-F238E27FC236}">
                <a16:creationId xmlns:a16="http://schemas.microsoft.com/office/drawing/2014/main" id="{FDD62FA5-C464-46C8-8A74-A46A4251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98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App</a:t>
            </a:r>
          </a:p>
        </p:txBody>
      </p:sp>
      <p:sp>
        <p:nvSpPr>
          <p:cNvPr id="13" name="startup-method-1">
            <a:extLst xmlns:a="http://schemas.openxmlformats.org/drawingml/2006/main">
              <a:ext uri="{FF2B5EF4-FFF2-40B4-BE49-F238E27FC236}">
                <a16:creationId xmlns:a16="http://schemas.microsoft.com/office/drawing/2014/main" id="{4BCF805D-6C0B-4626-BF49-A553396E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start(Stage)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stop()</a:t>
            </a:r>
          </a:p>
        </p:txBody>
      </p:sp>
      <p:sp>
        <p:nvSpPr>
          <p:cNvPr id="14" name="startup-desc-1">
            <a:extLst xmlns:a="http://schemas.openxmlformats.org/drawingml/2006/main">
              <a:ext uri="{FF2B5EF4-FFF2-40B4-BE49-F238E27FC236}">
                <a16:creationId xmlns:a16="http://schemas.microsoft.com/office/drawing/2014/main" id="{1C87002B-420A-4DAA-940B-3EEDE536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719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Creates Scene and Stage; closes view on shutdown</a:t>
            </a:r>
          </a:p>
        </p:txBody>
      </p:sp>
      <p:sp>
        <p:nvSpPr>
          <p:cNvPr id="15" name="startup-arrow-1">
            <a:extLst xmlns:a="http://schemas.openxmlformats.org/drawingml/2006/main">
              <a:ext uri="{FF2B5EF4-FFF2-40B4-BE49-F238E27FC236}">
                <a16:creationId xmlns:a16="http://schemas.microsoft.com/office/drawing/2014/main" id="{508A0F15-5A76-4617-BA62-5E4A9E18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476625"/>
            <a:ext cx="523875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6" name="startup-2">
            <a:extLst xmlns:a="http://schemas.openxmlformats.org/drawingml/2006/main">
              <a:ext uri="{FF2B5EF4-FFF2-40B4-BE49-F238E27FC236}">
                <a16:creationId xmlns:a16="http://schemas.microsoft.com/office/drawing/2014/main" id="{494EB487-9977-4A55-ADEA-9AFEF49F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571750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7" name="startup-name-2">
            <a:extLst xmlns:a="http://schemas.openxmlformats.org/drawingml/2006/main">
              <a:ext uri="{FF2B5EF4-FFF2-40B4-BE49-F238E27FC236}">
                <a16:creationId xmlns:a16="http://schemas.microsoft.com/office/drawing/2014/main" id="{A7BDFBEB-2380-4BDF-BED5-C678900F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28098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AstraApplicationView</a:t>
            </a:r>
          </a:p>
        </p:txBody>
      </p:sp>
      <p:sp>
        <p:nvSpPr>
          <p:cNvPr id="18" name="startup-method-2">
            <a:extLst xmlns:a="http://schemas.openxmlformats.org/drawingml/2006/main">
              <a:ext uri="{FF2B5EF4-FFF2-40B4-BE49-F238E27FC236}">
                <a16:creationId xmlns:a16="http://schemas.microsoft.com/office/drawing/2014/main" id="{0269929B-5BAE-4BAC-AD31-ADDAF899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4290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submitPassword()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show(state)</a:t>
            </a:r>
          </a:p>
        </p:txBody>
      </p:sp>
      <p:sp>
        <p:nvSpPr>
          <p:cNvPr id="19" name="startup-desc-2">
            <a:extLst xmlns:a="http://schemas.openxmlformats.org/drawingml/2006/main">
              <a:ext uri="{FF2B5EF4-FFF2-40B4-BE49-F238E27FC236}">
                <a16:creationId xmlns:a16="http://schemas.microsoft.com/office/drawing/2014/main" id="{396DBE38-BC00-45B9-9FF6-A167833B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41719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Coordinates screens and simulation lifecycle</a:t>
            </a:r>
          </a:p>
        </p:txBody>
      </p:sp>
      <p:sp>
        <p:nvSpPr>
          <p:cNvPr id="20" name="fx-call-title">
            <a:extLst xmlns:a="http://schemas.openxmlformats.org/drawingml/2006/main">
              <a:ext uri="{FF2B5EF4-FFF2-40B4-BE49-F238E27FC236}">
                <a16:creationId xmlns:a16="http://schemas.microsoft.com/office/drawing/2014/main" id="{3904AEC5-FA08-4F4E-9B5C-2A697949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JavaFX lifecycle calls</a:t>
            </a:r>
          </a:p>
        </p:txBody>
      </p:sp>
      <p:sp>
        <p:nvSpPr>
          <p:cNvPr id="21" name="fx-code">
            <a:extLst xmlns:a="http://schemas.openxmlformats.org/drawingml/2006/main">
              <a:ext uri="{FF2B5EF4-FFF2-40B4-BE49-F238E27FC236}">
                <a16:creationId xmlns:a16="http://schemas.microsoft.com/office/drawing/2014/main" id="{100E6EE3-4DCB-4E6D-A065-00F53925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7524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22" name="fx-code-text">
            <a:extLst xmlns:a="http://schemas.openxmlformats.org/drawingml/2006/main">
              <a:ext uri="{FF2B5EF4-FFF2-40B4-BE49-F238E27FC236}">
                <a16:creationId xmlns:a16="http://schemas.microsoft.com/office/drawing/2014/main" id="{E9DB47B5-B9F1-4E13-9E30-6FEE2E33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4625"/>
            <a:ext cx="681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Application.launch(App.class, args);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new Scene(applicationView, 1280, 900);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stage.setScene(scene);  stage.show();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Platform.runLater(() -&gt; processing.setStatus("Engine ready"));</a:t>
            </a:r>
          </a:p>
        </p:txBody>
      </p:sp>
      <p:sp>
        <p:nvSpPr>
          <p:cNvPr id="23" name="screen-state-card">
            <a:extLst xmlns:a="http://schemas.openxmlformats.org/drawingml/2006/main">
              <a:ext uri="{FF2B5EF4-FFF2-40B4-BE49-F238E27FC236}">
                <a16:creationId xmlns:a16="http://schemas.microsoft.com/office/drawing/2014/main" id="{58A04D81-CB8B-4454-8920-EB8E1907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15000"/>
            <a:ext cx="7429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4" name="screen-state-title">
            <a:extLst xmlns:a="http://schemas.openxmlformats.org/drawingml/2006/main">
              <a:ext uri="{FF2B5EF4-FFF2-40B4-BE49-F238E27FC236}">
                <a16:creationId xmlns:a16="http://schemas.microsoft.com/office/drawing/2014/main" id="{53BF5AAC-A459-4CD7-AA4D-D7089F22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00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Screen classes</a:t>
            </a:r>
          </a:p>
        </p:txBody>
      </p:sp>
      <p:sp>
        <p:nvSpPr>
          <p:cNvPr id="25" name="screen-state-list">
            <a:extLst xmlns:a="http://schemas.openxmlformats.org/drawingml/2006/main">
              <a:ext uri="{FF2B5EF4-FFF2-40B4-BE49-F238E27FC236}">
                <a16:creationId xmlns:a16="http://schemas.microsoft.com/office/drawing/2014/main" id="{DAF45A79-5B9D-4501-8900-B4A8D65B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715125"/>
            <a:ext cx="638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PasswordEntryView  →  InitializationView  →  PasswordSecurityReportView</a:t>
            </a:r>
          </a:p>
        </p:txBody>
      </p:sp>
      <p:sp>
        <p:nvSpPr>
          <p:cNvPr id="26" name="screen-state-caption">
            <a:extLst xmlns:a="http://schemas.openxmlformats.org/drawingml/2006/main">
              <a:ext uri="{FF2B5EF4-FFF2-40B4-BE49-F238E27FC236}">
                <a16:creationId xmlns:a16="http://schemas.microsoft.com/office/drawing/2014/main" id="{882224F9-6503-4131-9600-B815676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762000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AstraApplicationView switches among the three presentation states.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189b437c7ef4627">
              <a:extLst>
                <a:ext uri="{96DAC541-7B7A-43D3-8B79-37D633B846F1}">
                  <asvg:svgBlip xmlns:asvg="http://schemas.microsoft.com/office/drawing/2016/SVG/main" r:embed="R89d1e4ec9c1c4c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189b437c7ef4627">
              <a:extLst>
                <a:ext uri="{96DAC541-7B7A-43D3-8B79-37D633B846F1}">
                  <asvg:svgBlip xmlns:asvg="http://schemas.microsoft.com/office/drawing/2016/SVG/main" r:embed="R89d1e4ec9c1c4c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8c98f6c88c452e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4B5FE8-7948-49E0-90D7-1FEB8309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Password Input and Heuristic Classes</a:t>
            </a:r>
          </a:p>
        </p:txBody>
      </p:sp>
      <p:sp>
        <p:nvSpPr>
          <p:cNvPr id="6" name="input-step-0">
            <a:extLst xmlns:a="http://schemas.openxmlformats.org/drawingml/2006/main">
              <a:ext uri="{FF2B5EF4-FFF2-40B4-BE49-F238E27FC236}">
                <a16:creationId xmlns:a16="http://schemas.microsoft.com/office/drawing/2014/main" id="{E2C28702-118A-48D8-AEC7-2C182C75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857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input-name-0">
            <a:extLst xmlns:a="http://schemas.openxmlformats.org/drawingml/2006/main">
              <a:ext uri="{FF2B5EF4-FFF2-40B4-BE49-F238E27FC236}">
                <a16:creationId xmlns:a16="http://schemas.microsoft.com/office/drawing/2014/main" id="{B2E4D64E-272A-4DB2-B073-1F7CB272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351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PasswordEntryView</a:t>
            </a:r>
          </a:p>
        </p:txBody>
      </p:sp>
      <p:sp>
        <p:nvSpPr>
          <p:cNvPr id="8" name="input-method-0">
            <a:extLst xmlns:a="http://schemas.openxmlformats.org/drawingml/2006/main">
              <a:ext uri="{FF2B5EF4-FFF2-40B4-BE49-F238E27FC236}">
                <a16:creationId xmlns:a16="http://schemas.microsoft.com/office/drawing/2014/main" id="{282AFE78-B640-478B-82F9-516E1EDE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PasswordField + visible TextField</a:t>
            </a:r>
          </a:p>
        </p:txBody>
      </p:sp>
      <p:sp>
        <p:nvSpPr>
          <p:cNvPr id="9" name="input-arrow-0">
            <a:extLst xmlns:a="http://schemas.openxmlformats.org/drawingml/2006/main">
              <a:ext uri="{FF2B5EF4-FFF2-40B4-BE49-F238E27FC236}">
                <a16:creationId xmlns:a16="http://schemas.microsoft.com/office/drawing/2014/main" id="{09031D71-A467-418F-AAFF-4E5F089A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00500"/>
            <a:ext cx="304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0" name="input-step-1">
            <a:extLst xmlns:a="http://schemas.openxmlformats.org/drawingml/2006/main">
              <a:ext uri="{FF2B5EF4-FFF2-40B4-BE49-F238E27FC236}">
                <a16:creationId xmlns:a16="http://schemas.microsoft.com/office/drawing/2014/main" id="{07D637D7-2E94-422B-A348-25651295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3857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input-name-1">
            <a:extLst xmlns:a="http://schemas.openxmlformats.org/drawingml/2006/main">
              <a:ext uri="{FF2B5EF4-FFF2-40B4-BE49-F238E27FC236}">
                <a16:creationId xmlns:a16="http://schemas.microsoft.com/office/drawing/2014/main" id="{E0896B28-CDA6-4DDE-B25B-808EFAC7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351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PasswordInputPolicy</a:t>
            </a:r>
          </a:p>
        </p:txBody>
      </p:sp>
      <p:sp>
        <p:nvSpPr>
          <p:cNvPr id="12" name="input-method-1">
            <a:extLst xmlns:a="http://schemas.openxmlformats.org/drawingml/2006/main">
              <a:ext uri="{FF2B5EF4-FFF2-40B4-BE49-F238E27FC236}">
                <a16:creationId xmlns:a16="http://schemas.microsoft.com/office/drawing/2014/main" id="{DB44E462-7F69-4899-A421-F1B629F1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4337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analyzeAndErase(char[])</a:t>
            </a:r>
          </a:p>
        </p:txBody>
      </p:sp>
      <p:sp>
        <p:nvSpPr>
          <p:cNvPr id="13" name="input-arrow-1">
            <a:extLst xmlns:a="http://schemas.openxmlformats.org/drawingml/2006/main">
              <a:ext uri="{FF2B5EF4-FFF2-40B4-BE49-F238E27FC236}">
                <a16:creationId xmlns:a16="http://schemas.microsoft.com/office/drawing/2014/main" id="{091D7855-5FB0-42F1-9881-00D72A1F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304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4" name="input-step-2">
            <a:extLst xmlns:a="http://schemas.openxmlformats.org/drawingml/2006/main">
              <a:ext uri="{FF2B5EF4-FFF2-40B4-BE49-F238E27FC236}">
                <a16:creationId xmlns:a16="http://schemas.microsoft.com/office/drawing/2014/main" id="{16CB66CE-9FFE-4FBF-8CC9-4CBBAAA1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95625"/>
            <a:ext cx="3857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5" name="input-name-2">
            <a:extLst xmlns:a="http://schemas.openxmlformats.org/drawingml/2006/main">
              <a:ext uri="{FF2B5EF4-FFF2-40B4-BE49-F238E27FC236}">
                <a16:creationId xmlns:a16="http://schemas.microsoft.com/office/drawing/2014/main" id="{EC2515CA-D044-4AB8-A9C6-258A4670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81375"/>
            <a:ext cx="351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PasswordAnalysis</a:t>
            </a:r>
          </a:p>
        </p:txBody>
      </p:sp>
      <p:sp>
        <p:nvSpPr>
          <p:cNvPr id="16" name="input-method-2">
            <a:extLst xmlns:a="http://schemas.openxmlformats.org/drawingml/2006/main">
              <a:ext uri="{FF2B5EF4-FFF2-40B4-BE49-F238E27FC236}">
                <a16:creationId xmlns:a16="http://schemas.microsoft.com/office/drawing/2014/main" id="{A30EDDA9-2997-4A15-882C-98DD5F06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4337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length + class counts + patterns</a:t>
            </a:r>
          </a:p>
        </p:txBody>
      </p:sp>
      <p:sp>
        <p:nvSpPr>
          <p:cNvPr id="17" name="input-arrow-2">
            <a:extLst xmlns:a="http://schemas.openxmlformats.org/drawingml/2006/main">
              <a:ext uri="{FF2B5EF4-FFF2-40B4-BE49-F238E27FC236}">
                <a16:creationId xmlns:a16="http://schemas.microsoft.com/office/drawing/2014/main" id="{3AC6FFAA-FD59-44FA-A922-2D926783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4000500"/>
            <a:ext cx="304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8" name="input-step-3">
            <a:extLst xmlns:a="http://schemas.openxmlformats.org/drawingml/2006/main">
              <a:ext uri="{FF2B5EF4-FFF2-40B4-BE49-F238E27FC236}">
                <a16:creationId xmlns:a16="http://schemas.microsoft.com/office/drawing/2014/main" id="{BBD4193C-89D5-4829-94A9-B8AC762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095625"/>
            <a:ext cx="3857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9" name="input-name-3">
            <a:extLst xmlns:a="http://schemas.openxmlformats.org/drawingml/2006/main">
              <a:ext uri="{FF2B5EF4-FFF2-40B4-BE49-F238E27FC236}">
                <a16:creationId xmlns:a16="http://schemas.microsoft.com/office/drawing/2014/main" id="{B6D65B68-89AD-474E-AF89-B39093CB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381375"/>
            <a:ext cx="351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PasswordSecurityGuidance</a:t>
            </a:r>
          </a:p>
        </p:txBody>
      </p:sp>
      <p:sp>
        <p:nvSpPr>
          <p:cNvPr id="20" name="input-method-3">
            <a:extLst xmlns:a="http://schemas.openxmlformats.org/drawingml/2006/main">
              <a:ext uri="{FF2B5EF4-FFF2-40B4-BE49-F238E27FC236}">
                <a16:creationId xmlns:a16="http://schemas.microsoft.com/office/drawing/2014/main" id="{D180A8CE-DCA7-4EDD-ADB1-42741E67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14337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from(analysis) → recommendations</a:t>
            </a:r>
          </a:p>
        </p:txBody>
      </p:sp>
      <p:sp>
        <p:nvSpPr>
          <p:cNvPr id="21" name="input-code">
            <a:extLst xmlns:a="http://schemas.openxmlformats.org/drawingml/2006/main">
              <a:ext uri="{FF2B5EF4-FFF2-40B4-BE49-F238E27FC236}">
                <a16:creationId xmlns:a16="http://schemas.microsoft.com/office/drawing/2014/main" id="{73A062B6-5A9F-43BA-9C34-223263B3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8191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22" name="input-code-label">
            <a:extLst xmlns:a="http://schemas.openxmlformats.org/drawingml/2006/main">
              <a:ext uri="{FF2B5EF4-FFF2-40B4-BE49-F238E27FC236}">
                <a16:creationId xmlns:a16="http://schemas.microsoft.com/office/drawing/2014/main" id="{4D9C00C4-FC08-46D6-9430-150D8088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4008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pPr>
            <a:r>
              <a: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rPr>
              <a:t>IMPLEMENTATION DETAIL</a:t>
            </a:r>
          </a:p>
        </p:txBody>
      </p:sp>
      <p:sp>
        <p:nvSpPr>
          <p:cNvPr id="23" name="input-code-text">
            <a:extLst xmlns:a="http://schemas.openxmlformats.org/drawingml/2006/main">
              <a:ext uri="{FF2B5EF4-FFF2-40B4-BE49-F238E27FC236}">
                <a16:creationId xmlns:a16="http://schemas.microsoft.com/office/drawing/2014/main" id="{30AAB55A-31B5-4CAF-9E56-5118B2D5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905625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PasswordInputPolicy.analyzeAndErase(input)</a:t>
            </a:r>
          </a:p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Character.isUpperCase(c)</a:t>
            </a:r>
          </a:p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Character.isLowerCase(c)</a:t>
            </a:r>
          </a:p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Character.isDigit(c)</a:t>
            </a:r>
          </a:p>
        </p:txBody>
      </p:sp>
      <p:sp>
        <p:nvSpPr>
          <p:cNvPr id="24" name="input-boundary">
            <a:extLst xmlns:a="http://schemas.openxmlformats.org/drawingml/2006/main">
              <a:ext uri="{FF2B5EF4-FFF2-40B4-BE49-F238E27FC236}">
                <a16:creationId xmlns:a16="http://schemas.microsoft.com/office/drawing/2014/main" id="{20BEF0CA-D12D-450A-8FAA-54970094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91250"/>
            <a:ext cx="723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5" name="input-boundary-title">
            <a:extLst xmlns:a="http://schemas.openxmlformats.org/drawingml/2006/main">
              <a:ext uri="{FF2B5EF4-FFF2-40B4-BE49-F238E27FC236}">
                <a16:creationId xmlns:a16="http://schemas.microsoft.com/office/drawing/2014/main" id="{B82C056A-8315-4B6F-A9AD-5BDC631C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What the heuristic records</a:t>
            </a:r>
          </a:p>
        </p:txBody>
      </p:sp>
      <p:sp>
        <p:nvSpPr>
          <p:cNvPr id="26" name="input-boundary-copy">
            <a:extLst xmlns:a="http://schemas.openxmlformats.org/drawingml/2006/main">
              <a:ext uri="{FF2B5EF4-FFF2-40B4-BE49-F238E27FC236}">
                <a16:creationId xmlns:a16="http://schemas.microsoft.com/office/drawing/2014/main" id="{F3FF9EDE-4F0A-4826-A99A-EFE98B1A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43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Character counts and predictable patterns. It does not query breach databases, reuse history or dictionary membership.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aec8254288e497a">
              <a:extLst>
                <a:ext uri="{96DAC541-7B7A-43D3-8B79-37D633B846F1}">
                  <asvg:svgBlip xmlns:asvg="http://schemas.microsoft.com/office/drawing/2016/SVG/main" r:embed="Rdb6bc14a6f4b489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aec8254288e497a">
              <a:extLst>
                <a:ext uri="{96DAC541-7B7A-43D3-8B79-37D633B846F1}">
                  <asvg:svgBlip xmlns:asvg="http://schemas.microsoft.com/office/drawing/2016/SVG/main" r:embed="Rdb6bc14a6f4b489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fb5c0fdaf048da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DB974D-9146-458D-8E6E-23FB3912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Synthetic Simulation: Classes and Data Flow</a:t>
            </a:r>
          </a:p>
        </p:txBody>
      </p:sp>
      <p:sp>
        <p:nvSpPr>
          <p:cNvPr id="6" name="sim-0">
            <a:extLst xmlns:a="http://schemas.openxmlformats.org/drawingml/2006/main">
              <a:ext uri="{FF2B5EF4-FFF2-40B4-BE49-F238E27FC236}">
                <a16:creationId xmlns:a16="http://schemas.microsoft.com/office/drawing/2014/main" id="{E7F49E69-92CB-49B4-B934-CCCB4927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sim-name-0">
            <a:extLst xmlns:a="http://schemas.openxmlformats.org/drawingml/2006/main">
              <a:ext uri="{FF2B5EF4-FFF2-40B4-BE49-F238E27FC236}">
                <a16:creationId xmlns:a16="http://schemas.microsoft.com/office/drawing/2014/main" id="{DA84BD61-5A84-4B47-BA35-C62F81A6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813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SimulationConfig</a:t>
            </a:r>
          </a:p>
        </p:txBody>
      </p:sp>
      <p:sp>
        <p:nvSpPr>
          <p:cNvPr id="8" name="sim-desc-0">
            <a:extLst xmlns:a="http://schemas.openxmlformats.org/drawingml/2006/main">
              <a:ext uri="{FF2B5EF4-FFF2-40B4-BE49-F238E27FC236}">
                <a16:creationId xmlns:a16="http://schemas.microsoft.com/office/drawing/2014/main" id="{0C35956C-C17A-4A65-8B43-54EBC9CC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bounds + worker settings</a:t>
            </a:r>
          </a:p>
        </p:txBody>
      </p:sp>
      <p:sp>
        <p:nvSpPr>
          <p:cNvPr id="9" name="sim-arrow-0">
            <a:extLst xmlns:a="http://schemas.openxmlformats.org/drawingml/2006/main">
              <a:ext uri="{FF2B5EF4-FFF2-40B4-BE49-F238E27FC236}">
                <a16:creationId xmlns:a16="http://schemas.microsoft.com/office/drawing/2014/main" id="{28A5B59F-572E-4C38-AF83-FBF2238F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52875"/>
            <a:ext cx="3238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0" name="sim-1">
            <a:extLst xmlns:a="http://schemas.openxmlformats.org/drawingml/2006/main">
              <a:ext uri="{FF2B5EF4-FFF2-40B4-BE49-F238E27FC236}">
                <a16:creationId xmlns:a16="http://schemas.microsoft.com/office/drawing/2014/main" id="{2D6FFED6-90CE-4B2F-B9A8-DA1DCCD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sim-name-1">
            <a:extLst xmlns:a="http://schemas.openxmlformats.org/drawingml/2006/main">
              <a:ext uri="{FF2B5EF4-FFF2-40B4-BE49-F238E27FC236}">
                <a16:creationId xmlns:a16="http://schemas.microsoft.com/office/drawing/2014/main" id="{DC6E5AB6-A019-408D-9EAC-93F468F1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TaskPartitioner</a:t>
            </a:r>
          </a:p>
        </p:txBody>
      </p:sp>
      <p:sp>
        <p:nvSpPr>
          <p:cNvPr id="12" name="sim-desc-1">
            <a:extLst xmlns:a="http://schemas.openxmlformats.org/drawingml/2006/main">
              <a:ext uri="{FF2B5EF4-FFF2-40B4-BE49-F238E27FC236}">
                <a16:creationId xmlns:a16="http://schemas.microsoft.com/office/drawing/2014/main" id="{56F897A7-43C1-4D2D-B3A1-4594C38F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partition(config)</a:t>
            </a:r>
          </a:p>
        </p:txBody>
      </p:sp>
      <p:sp>
        <p:nvSpPr>
          <p:cNvPr id="13" name="sim-arrow-1">
            <a:extLst xmlns:a="http://schemas.openxmlformats.org/drawingml/2006/main">
              <a:ext uri="{FF2B5EF4-FFF2-40B4-BE49-F238E27FC236}">
                <a16:creationId xmlns:a16="http://schemas.microsoft.com/office/drawing/2014/main" id="{B9E01B4C-0D5B-4137-ADCC-8C4CF7A6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52875"/>
            <a:ext cx="3238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4" name="sim-2">
            <a:extLst xmlns:a="http://schemas.openxmlformats.org/drawingml/2006/main">
              <a:ext uri="{FF2B5EF4-FFF2-40B4-BE49-F238E27FC236}">
                <a16:creationId xmlns:a16="http://schemas.microsoft.com/office/drawing/2014/main" id="{96CB2348-5B95-428D-9670-1592FE2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95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5" name="sim-name-2">
            <a:extLst xmlns:a="http://schemas.openxmlformats.org/drawingml/2006/main">
              <a:ext uri="{FF2B5EF4-FFF2-40B4-BE49-F238E27FC236}">
                <a16:creationId xmlns:a16="http://schemas.microsoft.com/office/drawing/2014/main" id="{38F94D26-C3CF-486F-AA97-3FA0CA4C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813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SimulationEngine</a:t>
            </a:r>
          </a:p>
        </p:txBody>
      </p:sp>
      <p:sp>
        <p:nvSpPr>
          <p:cNvPr id="16" name="sim-desc-2">
            <a:extLst xmlns:a="http://schemas.openxmlformats.org/drawingml/2006/main">
              <a:ext uri="{FF2B5EF4-FFF2-40B4-BE49-F238E27FC236}">
                <a16:creationId xmlns:a16="http://schemas.microsoft.com/office/drawing/2014/main" id="{32F31CB4-4121-44FB-A0D6-6CBD3A7E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43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commands + state + events</a:t>
            </a:r>
          </a:p>
        </p:txBody>
      </p:sp>
      <p:sp>
        <p:nvSpPr>
          <p:cNvPr id="17" name="sim-arrow-2">
            <a:extLst xmlns:a="http://schemas.openxmlformats.org/drawingml/2006/main">
              <a:ext uri="{FF2B5EF4-FFF2-40B4-BE49-F238E27FC236}">
                <a16:creationId xmlns:a16="http://schemas.microsoft.com/office/drawing/2014/main" id="{12FA1A63-5945-4183-8E59-D44D2EDB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52875"/>
            <a:ext cx="3238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8" name="sim-3">
            <a:extLst xmlns:a="http://schemas.openxmlformats.org/drawingml/2006/main">
              <a:ext uri="{FF2B5EF4-FFF2-40B4-BE49-F238E27FC236}">
                <a16:creationId xmlns:a16="http://schemas.microsoft.com/office/drawing/2014/main" id="{316E72DC-F02B-4161-BE85-03736EDD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95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9" name="sim-name-3">
            <a:extLst xmlns:a="http://schemas.openxmlformats.org/drawingml/2006/main">
              <a:ext uri="{FF2B5EF4-FFF2-40B4-BE49-F238E27FC236}">
                <a16:creationId xmlns:a16="http://schemas.microsoft.com/office/drawing/2014/main" id="{9B5E1E9A-AC2A-41E5-8610-CF4C29EA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813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AgentCoordinator</a:t>
            </a:r>
          </a:p>
        </p:txBody>
      </p:sp>
      <p:sp>
        <p:nvSpPr>
          <p:cNvPr id="20" name="sim-desc-3">
            <a:extLst xmlns:a="http://schemas.openxmlformats.org/drawingml/2006/main">
              <a:ext uri="{FF2B5EF4-FFF2-40B4-BE49-F238E27FC236}">
                <a16:creationId xmlns:a16="http://schemas.microsoft.com/office/drawing/2014/main" id="{0282CDA3-2B74-4EC8-B72C-5CA8B044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43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assigns synthetic ranges</a:t>
            </a:r>
          </a:p>
        </p:txBody>
      </p:sp>
      <p:sp>
        <p:nvSpPr>
          <p:cNvPr id="21" name="sim-arrow-3">
            <a:extLst xmlns:a="http://schemas.openxmlformats.org/drawingml/2006/main">
              <a:ext uri="{FF2B5EF4-FFF2-40B4-BE49-F238E27FC236}">
                <a16:creationId xmlns:a16="http://schemas.microsoft.com/office/drawing/2014/main" id="{13D54451-740C-48B4-96B4-C9394CE0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3952875"/>
            <a:ext cx="3238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22" name="sim-4">
            <a:extLst xmlns:a="http://schemas.openxmlformats.org/drawingml/2006/main">
              <a:ext uri="{FF2B5EF4-FFF2-40B4-BE49-F238E27FC236}">
                <a16:creationId xmlns:a16="http://schemas.microsoft.com/office/drawing/2014/main" id="{27C1D455-07CE-48EC-8C0C-24CB2C5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3095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3" name="sim-name-4">
            <a:extLst xmlns:a="http://schemas.openxmlformats.org/drawingml/2006/main">
              <a:ext uri="{FF2B5EF4-FFF2-40B4-BE49-F238E27FC236}">
                <a16:creationId xmlns:a16="http://schemas.microsoft.com/office/drawing/2014/main" id="{7F97B709-BA9F-4A90-B68F-EEAA593C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33813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ResultValidator</a:t>
            </a:r>
          </a:p>
        </p:txBody>
      </p:sp>
      <p:sp>
        <p:nvSpPr>
          <p:cNvPr id="24" name="sim-desc-4">
            <a:extLst xmlns:a="http://schemas.openxmlformats.org/drawingml/2006/main">
              <a:ext uri="{FF2B5EF4-FFF2-40B4-BE49-F238E27FC236}">
                <a16:creationId xmlns:a16="http://schemas.microsoft.com/office/drawing/2014/main" id="{B9C2D446-68EC-4EE7-A219-825F19C8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4143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checks completion evidence</a:t>
            </a:r>
          </a:p>
        </p:txBody>
      </p:sp>
      <p:sp>
        <p:nvSpPr>
          <p:cNvPr id="25" name="partition-diagram">
            <a:extLst xmlns:a="http://schemas.openxmlformats.org/drawingml/2006/main">
              <a:ext uri="{FF2B5EF4-FFF2-40B4-BE49-F238E27FC236}">
                <a16:creationId xmlns:a16="http://schemas.microsoft.com/office/drawing/2014/main" id="{7718EE86-4BF5-4B00-B031-3C64975F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00750"/>
            <a:ext cx="7524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9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6" name="partition-title">
            <a:extLst xmlns:a="http://schemas.openxmlformats.org/drawingml/2006/main">
              <a:ext uri="{FF2B5EF4-FFF2-40B4-BE49-F238E27FC236}">
                <a16:creationId xmlns:a16="http://schemas.microsoft.com/office/drawing/2014/main" id="{3DE44F91-1556-4F43-9EFE-DBD00C6A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23887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TaskPartitioner.partition(config)</a:t>
            </a:r>
          </a:p>
        </p:txBody>
      </p:sp>
      <p:sp>
        <p:nvSpPr>
          <p:cNvPr id="27" name="range-0">
            <a:extLst xmlns:a="http://schemas.openxmlformats.org/drawingml/2006/main">
              <a:ext uri="{FF2B5EF4-FFF2-40B4-BE49-F238E27FC236}">
                <a16:creationId xmlns:a16="http://schemas.microsoft.com/office/drawing/2014/main" id="{7075675C-4E46-42FB-A2F8-3A8E710D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096125"/>
            <a:ext cx="1476375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CFE0FF"/>
          </a:solidFill>
          <a:ln xmlns:a="http://schemas.openxmlformats.org/drawingml/2006/main" w="19050">
            <a:solidFill>
              <a:srgbClr val="005AE0"/>
            </a:solidFill>
            <a:prstDash val="solid"/>
          </a:ln>
        </p:spPr>
      </p:sp>
      <p:sp>
        <p:nvSpPr>
          <p:cNvPr id="28" name="range-label-0">
            <a:extLst xmlns:a="http://schemas.openxmlformats.org/drawingml/2006/main">
              <a:ext uri="{FF2B5EF4-FFF2-40B4-BE49-F238E27FC236}">
                <a16:creationId xmlns:a16="http://schemas.microsoft.com/office/drawing/2014/main" id="{3C3BD7AD-7B16-46C7-8678-BA52F647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913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range 1</a:t>
            </a:r>
          </a:p>
        </p:txBody>
      </p:sp>
      <p:sp>
        <p:nvSpPr>
          <p:cNvPr id="29" name="range-1">
            <a:extLst xmlns:a="http://schemas.openxmlformats.org/drawingml/2006/main">
              <a:ext uri="{FF2B5EF4-FFF2-40B4-BE49-F238E27FC236}">
                <a16:creationId xmlns:a16="http://schemas.microsoft.com/office/drawing/2014/main" id="{66E8B370-41BB-408D-A634-8CF1222F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7096125"/>
            <a:ext cx="1476375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9FC0FF"/>
          </a:solidFill>
          <a:ln xmlns:a="http://schemas.openxmlformats.org/drawingml/2006/main" w="19050">
            <a:solidFill>
              <a:srgbClr val="005AE0"/>
            </a:solidFill>
            <a:prstDash val="solid"/>
          </a:ln>
        </p:spPr>
      </p:sp>
      <p:sp>
        <p:nvSpPr>
          <p:cNvPr id="30" name="range-label-1">
            <a:extLst xmlns:a="http://schemas.openxmlformats.org/drawingml/2006/main">
              <a:ext uri="{FF2B5EF4-FFF2-40B4-BE49-F238E27FC236}">
                <a16:creationId xmlns:a16="http://schemas.microsoft.com/office/drawing/2014/main" id="{08904702-8DF5-4071-8A58-44F1D33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71913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range 2</a:t>
            </a:r>
          </a:p>
        </p:txBody>
      </p:sp>
      <p:sp>
        <p:nvSpPr>
          <p:cNvPr id="31" name="range-2">
            <a:extLst xmlns:a="http://schemas.openxmlformats.org/drawingml/2006/main">
              <a:ext uri="{FF2B5EF4-FFF2-40B4-BE49-F238E27FC236}">
                <a16:creationId xmlns:a16="http://schemas.microsoft.com/office/drawing/2014/main" id="{019F0D2F-B73E-4BA8-BCD3-C23F4D5F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096125"/>
            <a:ext cx="1476375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CFE0FF"/>
          </a:solidFill>
          <a:ln xmlns:a="http://schemas.openxmlformats.org/drawingml/2006/main" w="19050">
            <a:solidFill>
              <a:srgbClr val="005AE0"/>
            </a:solidFill>
            <a:prstDash val="solid"/>
          </a:ln>
        </p:spPr>
      </p:sp>
      <p:sp>
        <p:nvSpPr>
          <p:cNvPr id="32" name="range-label-2">
            <a:extLst xmlns:a="http://schemas.openxmlformats.org/drawingml/2006/main">
              <a:ext uri="{FF2B5EF4-FFF2-40B4-BE49-F238E27FC236}">
                <a16:creationId xmlns:a16="http://schemas.microsoft.com/office/drawing/2014/main" id="{AD124ADB-EDFC-4700-8386-2DCB5DB3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913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range 3</a:t>
            </a:r>
          </a:p>
        </p:txBody>
      </p:sp>
      <p:sp>
        <p:nvSpPr>
          <p:cNvPr id="33" name="range-3">
            <a:extLst xmlns:a="http://schemas.openxmlformats.org/drawingml/2006/main">
              <a:ext uri="{FF2B5EF4-FFF2-40B4-BE49-F238E27FC236}">
                <a16:creationId xmlns:a16="http://schemas.microsoft.com/office/drawing/2014/main" id="{6C1BE1D8-6645-4E45-8B81-84230B29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096125"/>
            <a:ext cx="1476375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9FC0FF"/>
          </a:solidFill>
          <a:ln xmlns:a="http://schemas.openxmlformats.org/drawingml/2006/main" w="19050">
            <a:solidFill>
              <a:srgbClr val="005AE0"/>
            </a:solidFill>
            <a:prstDash val="solid"/>
          </a:ln>
        </p:spPr>
      </p:sp>
      <p:sp>
        <p:nvSpPr>
          <p:cNvPr id="34" name="range-label-3">
            <a:extLst xmlns:a="http://schemas.openxmlformats.org/drawingml/2006/main">
              <a:ext uri="{FF2B5EF4-FFF2-40B4-BE49-F238E27FC236}">
                <a16:creationId xmlns:a16="http://schemas.microsoft.com/office/drawing/2014/main" id="{460C2169-B00D-4B2E-9791-723CDAF4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1913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range 4</a:t>
            </a:r>
          </a:p>
        </p:txBody>
      </p:sp>
      <p:sp>
        <p:nvSpPr>
          <p:cNvPr id="35" name="range-check">
            <a:extLst xmlns:a="http://schemas.openxmlformats.org/drawingml/2006/main">
              <a:ext uri="{FF2B5EF4-FFF2-40B4-BE49-F238E27FC236}">
                <a16:creationId xmlns:a16="http://schemas.microsoft.com/office/drawing/2014/main" id="{D3C0D3ED-E751-4F7D-973A-6EE1189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8581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Contiguous ranges cover the configured candidate index space.</a:t>
            </a:r>
          </a:p>
        </p:txBody>
      </p:sp>
      <p:sp>
        <p:nvSpPr>
          <p:cNvPr id="36" name="simulation-boundary">
            <a:extLst xmlns:a="http://schemas.openxmlformats.org/drawingml/2006/main">
              <a:ext uri="{FF2B5EF4-FFF2-40B4-BE49-F238E27FC236}">
                <a16:creationId xmlns:a16="http://schemas.microsoft.com/office/drawing/2014/main" id="{BE846FA7-7C9C-4796-981A-FA209BBD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00750"/>
            <a:ext cx="7429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37" name="simulation-boundary-title">
            <a:extLst xmlns:a="http://schemas.openxmlformats.org/drawingml/2006/main">
              <a:ext uri="{FF2B5EF4-FFF2-40B4-BE49-F238E27FC236}">
                <a16:creationId xmlns:a16="http://schemas.microsoft.com/office/drawing/2014/main" id="{A733382F-5888-47D2-B87E-171AD886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865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Data boundary</a:t>
            </a:r>
          </a:p>
        </p:txBody>
      </p:sp>
      <p:sp>
        <p:nvSpPr>
          <p:cNvPr id="38" name="simulation-boundary-copy">
            <a:extLst xmlns:a="http://schemas.openxmlformats.org/drawingml/2006/main">
              <a:ext uri="{FF2B5EF4-FFF2-40B4-BE49-F238E27FC236}">
                <a16:creationId xmlns:a16="http://schemas.microsoft.com/office/drawing/2014/main" id="{AC3A2D09-F648-4C68-B9E4-56F0A2D0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95325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SyntheticChallenge evaluates generated indexes. The submitted password and its heuristic result are not sent to the engine.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b97b7477ecf4096">
              <a:extLst>
                <a:ext uri="{96DAC541-7B7A-43D3-8B79-37D633B846F1}">
                  <asvg:svgBlip xmlns:asvg="http://schemas.microsoft.com/office/drawing/2016/SVG/main" r:embed="R2bcfa881a5a34eb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b97b7477ecf4096">
              <a:extLst>
                <a:ext uri="{96DAC541-7B7A-43D3-8B79-37D633B846F1}">
                  <asvg:svgBlip xmlns:asvg="http://schemas.microsoft.com/office/drawing/2016/SVG/main" r:embed="R2bcfa881a5a34eb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8940d98d7b4d9a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9E8415-ADFE-4C15-8190-3FE815B7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Estimator and Optional KDF Benchmark</a:t>
            </a:r>
          </a:p>
        </p:txBody>
      </p:sp>
      <p:sp>
        <p:nvSpPr>
          <p:cNvPr id="6" name="estimate-panel">
            <a:extLst xmlns:a="http://schemas.openxmlformats.org/drawingml/2006/main">
              <a:ext uri="{FF2B5EF4-FFF2-40B4-BE49-F238E27FC236}">
                <a16:creationId xmlns:a16="http://schemas.microsoft.com/office/drawing/2014/main" id="{A04809F7-7F0B-4E26-9054-5F844B78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7858125" cy="5715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estimate-title">
            <a:extLst xmlns:a="http://schemas.openxmlformats.org/drawingml/2006/main">
              <a:ext uri="{FF2B5EF4-FFF2-40B4-BE49-F238E27FC236}">
                <a16:creationId xmlns:a16="http://schemas.microsoft.com/office/drawing/2014/main" id="{B839D9A4-1005-4DFD-B17A-00B35237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719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Educational estimate path</a:t>
            </a:r>
          </a:p>
        </p:txBody>
      </p:sp>
      <p:sp>
        <p:nvSpPr>
          <p:cNvPr id="8" name="est-box-0">
            <a:extLst xmlns:a="http://schemas.openxmlformats.org/drawingml/2006/main">
              <a:ext uri="{FF2B5EF4-FFF2-40B4-BE49-F238E27FC236}">
                <a16:creationId xmlns:a16="http://schemas.microsoft.com/office/drawing/2014/main" id="{8D4E33B4-B8AC-4BE8-9EE7-48FB1B10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6429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9" name="est-name-0">
            <a:extLst xmlns:a="http://schemas.openxmlformats.org/drawingml/2006/main">
              <a:ext uri="{FF2B5EF4-FFF2-40B4-BE49-F238E27FC236}">
                <a16:creationId xmlns:a16="http://schemas.microsoft.com/office/drawing/2014/main" id="{D3ADE114-468F-43F7-9A9F-C1ABA7E8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86125"/>
            <a:ext cx="604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CrackTimeAssumptionDataset</a:t>
            </a:r>
          </a:p>
        </p:txBody>
      </p:sp>
      <p:sp>
        <p:nvSpPr>
          <p:cNvPr id="10" name="est-detail-0">
            <a:extLst xmlns:a="http://schemas.openxmlformats.org/drawingml/2006/main">
              <a:ext uri="{FF2B5EF4-FFF2-40B4-BE49-F238E27FC236}">
                <a16:creationId xmlns:a16="http://schemas.microsoft.com/office/drawing/2014/main" id="{7F63F096-B9A8-4DE6-BA1C-1FC33945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604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select supported profile</a:t>
            </a:r>
          </a:p>
        </p:txBody>
      </p:sp>
      <p:sp>
        <p:nvSpPr>
          <p:cNvPr id="11" name="est-arrow-0">
            <a:extLst xmlns:a="http://schemas.openxmlformats.org/drawingml/2006/main">
              <a:ext uri="{FF2B5EF4-FFF2-40B4-BE49-F238E27FC236}">
                <a16:creationId xmlns:a16="http://schemas.microsoft.com/office/drawing/2014/main" id="{9F88D683-6F59-4D8D-B9A2-D7D45ECA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2432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2" name="est-box-1">
            <a:extLst xmlns:a="http://schemas.openxmlformats.org/drawingml/2006/main">
              <a:ext uri="{FF2B5EF4-FFF2-40B4-BE49-F238E27FC236}">
                <a16:creationId xmlns:a16="http://schemas.microsoft.com/office/drawing/2014/main" id="{24EF6D3B-8973-482D-A709-940D5724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6429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3" name="est-name-1">
            <a:extLst xmlns:a="http://schemas.openxmlformats.org/drawingml/2006/main">
              <a:ext uri="{FF2B5EF4-FFF2-40B4-BE49-F238E27FC236}">
                <a16:creationId xmlns:a16="http://schemas.microsoft.com/office/drawing/2014/main" id="{A6381291-D1B3-4A86-9023-4BD3DE12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604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CrackTimeEstimator.estimate(...)</a:t>
            </a:r>
          </a:p>
        </p:txBody>
      </p:sp>
      <p:sp>
        <p:nvSpPr>
          <p:cNvPr id="14" name="est-detail-1">
            <a:extLst xmlns:a="http://schemas.openxmlformats.org/drawingml/2006/main">
              <a:ext uri="{FF2B5EF4-FFF2-40B4-BE49-F238E27FC236}">
                <a16:creationId xmlns:a16="http://schemas.microsoft.com/office/drawing/2014/main" id="{DDFAA268-C085-40F1-A044-02F53663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604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model candidate space / rate</a:t>
            </a:r>
          </a:p>
        </p:txBody>
      </p:sp>
      <p:sp>
        <p:nvSpPr>
          <p:cNvPr id="15" name="est-arrow-1">
            <a:extLst xmlns:a="http://schemas.openxmlformats.org/drawingml/2006/main">
              <a:ext uri="{FF2B5EF4-FFF2-40B4-BE49-F238E27FC236}">
                <a16:creationId xmlns:a16="http://schemas.microsoft.com/office/drawing/2014/main" id="{DA15A47C-A368-4B3A-A202-738FB002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6257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6" name="est-box-2">
            <a:extLst xmlns:a="http://schemas.openxmlformats.org/drawingml/2006/main">
              <a:ext uri="{FF2B5EF4-FFF2-40B4-BE49-F238E27FC236}">
                <a16:creationId xmlns:a16="http://schemas.microsoft.com/office/drawing/2014/main" id="{EE904D7C-C76B-4AE8-9C2A-724C07D3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67375"/>
            <a:ext cx="6429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7" name="est-name-2">
            <a:extLst xmlns:a="http://schemas.openxmlformats.org/drawingml/2006/main">
              <a:ext uri="{FF2B5EF4-FFF2-40B4-BE49-F238E27FC236}">
                <a16:creationId xmlns:a16="http://schemas.microsoft.com/office/drawing/2014/main" id="{EB983EC8-E57C-495A-BA6D-C76AE1EB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62625"/>
            <a:ext cx="604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CrackTimeEstimate</a:t>
            </a:r>
          </a:p>
        </p:txBody>
      </p:sp>
      <p:sp>
        <p:nvSpPr>
          <p:cNvPr id="18" name="est-detail-2">
            <a:extLst xmlns:a="http://schemas.openxmlformats.org/drawingml/2006/main">
              <a:ext uri="{FF2B5EF4-FFF2-40B4-BE49-F238E27FC236}">
                <a16:creationId xmlns:a16="http://schemas.microsoft.com/office/drawing/2014/main" id="{3E979FE4-5282-4FF2-8166-CC139A2B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43625"/>
            <a:ext cx="604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ESTIMATED or unavailable</a:t>
            </a:r>
          </a:p>
        </p:txBody>
      </p:sp>
      <p:sp>
        <p:nvSpPr>
          <p:cNvPr id="19" name="est-note">
            <a:extLst xmlns:a="http://schemas.openxmlformats.org/drawingml/2006/main">
              <a:ext uri="{FF2B5EF4-FFF2-40B4-BE49-F238E27FC236}">
                <a16:creationId xmlns:a16="http://schemas.microsoft.com/office/drawing/2014/main" id="{8B67CD89-780A-4B40-BB98-8F5E130F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43750"/>
            <a:ext cx="671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Hypothetical project rates drive the model. Simulation throughput is separate.</a:t>
            </a:r>
          </a:p>
        </p:txBody>
      </p:sp>
      <p:sp>
        <p:nvSpPr>
          <p:cNvPr id="20" name="benchmark-panel">
            <a:extLst xmlns:a="http://schemas.openxmlformats.org/drawingml/2006/main">
              <a:ext uri="{FF2B5EF4-FFF2-40B4-BE49-F238E27FC236}">
                <a16:creationId xmlns:a16="http://schemas.microsoft.com/office/drawing/2014/main" id="{847551F8-40B4-41B4-813D-25ADE865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7858125" cy="5715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1" name="benchmark-title">
            <a:extLst xmlns:a="http://schemas.openxmlformats.org/drawingml/2006/main">
              <a:ext uri="{FF2B5EF4-FFF2-40B4-BE49-F238E27FC236}">
                <a16:creationId xmlns:a16="http://schemas.microsoft.com/office/drawing/2014/main" id="{609EC4C0-7A0B-4DD8-B030-B8E1C5E7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90750"/>
            <a:ext cx="719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Explicit local verification benchmark</a:t>
            </a:r>
          </a:p>
        </p:txBody>
      </p:sp>
      <p:sp>
        <p:nvSpPr>
          <p:cNvPr id="22" name="bm-box-0">
            <a:extLst xmlns:a="http://schemas.openxmlformats.org/drawingml/2006/main">
              <a:ext uri="{FF2B5EF4-FFF2-40B4-BE49-F238E27FC236}">
                <a16:creationId xmlns:a16="http://schemas.microsoft.com/office/drawing/2014/main" id="{36C0755C-6436-4476-895B-25690D1A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190875"/>
            <a:ext cx="6429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3" name="bm-name-0">
            <a:extLst xmlns:a="http://schemas.openxmlformats.org/drawingml/2006/main">
              <a:ext uri="{FF2B5EF4-FFF2-40B4-BE49-F238E27FC236}">
                <a16:creationId xmlns:a16="http://schemas.microsoft.com/office/drawing/2014/main" id="{ED024AC5-246A-42F4-9BBC-AA21A807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614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KdfVerificationBenchmark</a:t>
            </a:r>
          </a:p>
        </p:txBody>
      </p:sp>
      <p:sp>
        <p:nvSpPr>
          <p:cNvPr id="24" name="bm-detail-0">
            <a:extLst xmlns:a="http://schemas.openxmlformats.org/drawingml/2006/main">
              <a:ext uri="{FF2B5EF4-FFF2-40B4-BE49-F238E27FC236}">
                <a16:creationId xmlns:a16="http://schemas.microsoft.com/office/drawing/2014/main" id="{6665BBCC-51C6-46F1-B4FC-E87C76FC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614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bounded warmups + samples</a:t>
            </a:r>
          </a:p>
        </p:txBody>
      </p:sp>
      <p:sp>
        <p:nvSpPr>
          <p:cNvPr id="25" name="bm-arrow-0">
            <a:extLst xmlns:a="http://schemas.openxmlformats.org/drawingml/2006/main">
              <a:ext uri="{FF2B5EF4-FFF2-40B4-BE49-F238E27FC236}">
                <a16:creationId xmlns:a16="http://schemas.microsoft.com/office/drawing/2014/main" id="{1D5F50E6-1834-4C56-A722-B436361B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412432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26" name="bm-box-1">
            <a:extLst xmlns:a="http://schemas.openxmlformats.org/drawingml/2006/main">
              <a:ext uri="{FF2B5EF4-FFF2-40B4-BE49-F238E27FC236}">
                <a16:creationId xmlns:a16="http://schemas.microsoft.com/office/drawing/2014/main" id="{1E4DF505-03BE-4AA5-A895-E522CBB8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29125"/>
            <a:ext cx="6429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7" name="bm-name-1">
            <a:extLst xmlns:a="http://schemas.openxmlformats.org/drawingml/2006/main">
              <a:ext uri="{FF2B5EF4-FFF2-40B4-BE49-F238E27FC236}">
                <a16:creationId xmlns:a16="http://schemas.microsoft.com/office/drawing/2014/main" id="{75D4C6B5-841F-44A1-A165-F67188F0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24375"/>
            <a:ext cx="614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KdfBenchmarkReport</a:t>
            </a:r>
          </a:p>
        </p:txBody>
      </p:sp>
      <p:sp>
        <p:nvSpPr>
          <p:cNvPr id="28" name="bm-detail-1">
            <a:extLst xmlns:a="http://schemas.openxmlformats.org/drawingml/2006/main">
              <a:ext uri="{FF2B5EF4-FFF2-40B4-BE49-F238E27FC236}">
                <a16:creationId xmlns:a16="http://schemas.microsoft.com/office/drawing/2014/main" id="{130A34F8-436E-444F-BB40-9B5B4C7C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05375"/>
            <a:ext cx="614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completed run metadata</a:t>
            </a:r>
          </a:p>
        </p:txBody>
      </p:sp>
      <p:sp>
        <p:nvSpPr>
          <p:cNvPr id="29" name="bm-arrow-1">
            <a:extLst xmlns:a="http://schemas.openxmlformats.org/drawingml/2006/main">
              <a:ext uri="{FF2B5EF4-FFF2-40B4-BE49-F238E27FC236}">
                <a16:creationId xmlns:a16="http://schemas.microsoft.com/office/drawing/2014/main" id="{9D6DF0C1-7E7F-4DDA-B13B-4DC4E483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536257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30" name="bm-box-2">
            <a:extLst xmlns:a="http://schemas.openxmlformats.org/drawingml/2006/main">
              <a:ext uri="{FF2B5EF4-FFF2-40B4-BE49-F238E27FC236}">
                <a16:creationId xmlns:a16="http://schemas.microsoft.com/office/drawing/2014/main" id="{2A53B170-6D3C-4F8B-AF6C-DCAF8293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667375"/>
            <a:ext cx="6429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31" name="bm-name-2">
            <a:extLst xmlns:a="http://schemas.openxmlformats.org/drawingml/2006/main">
              <a:ext uri="{FF2B5EF4-FFF2-40B4-BE49-F238E27FC236}">
                <a16:creationId xmlns:a16="http://schemas.microsoft.com/office/drawing/2014/main" id="{73160507-6847-481B-ABB6-A25BAD2E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762625"/>
            <a:ext cx="614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KdfBenchmarkReportLoader</a:t>
            </a:r>
          </a:p>
        </p:txBody>
      </p:sp>
      <p:sp>
        <p:nvSpPr>
          <p:cNvPr id="32" name="bm-detail-2">
            <a:extLst xmlns:a="http://schemas.openxmlformats.org/drawingml/2006/main">
              <a:ext uri="{FF2B5EF4-FFF2-40B4-BE49-F238E27FC236}">
                <a16:creationId xmlns:a16="http://schemas.microsoft.com/office/drawing/2014/main" id="{55EE9EB8-55B3-4655-B05E-DEA0F0C4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43625"/>
            <a:ext cx="614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loads selected path + validates</a:t>
            </a:r>
          </a:p>
        </p:txBody>
      </p:sp>
      <p:sp>
        <p:nvSpPr>
          <p:cNvPr id="33" name="benchmark-note">
            <a:extLst xmlns:a="http://schemas.openxmlformats.org/drawingml/2006/main">
              <a:ext uri="{FF2B5EF4-FFF2-40B4-BE49-F238E27FC236}">
                <a16:creationId xmlns:a16="http://schemas.microsoft.com/office/drawing/2014/main" id="{7311CABC-A9D7-4B54-9256-6C122FB2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14375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Random fixture only. Verification latency is not crack throughput. Report metadata matching does not authenticate the file.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bd2549ecce46b4">
              <a:extLst>
                <a:ext uri="{96DAC541-7B7A-43D3-8B79-37D633B846F1}">
                  <asvg:svgBlip xmlns:asvg="http://schemas.microsoft.com/office/drawing/2016/SVG/main" r:embed="Rfd1067f1e690456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bd2549ecce46b4">
              <a:extLst>
                <a:ext uri="{96DAC541-7B7A-43D3-8B79-37D633B846F1}">
                  <asvg:svgBlip xmlns:asvg="http://schemas.microsoft.com/office/drawing/2016/SVG/main" r:embed="Rfd1067f1e690456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1b159a63c5c4684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2DFC88-119E-4994-84CD-CAC54170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Predefined APIs Used in the Implementation</a:t>
            </a:r>
          </a:p>
        </p:txBody>
      </p:sp>
      <p:sp>
        <p:nvSpPr>
          <p:cNvPr id="6" name="api-card-0">
            <a:extLst xmlns:a="http://schemas.openxmlformats.org/drawingml/2006/main">
              <a:ext uri="{FF2B5EF4-FFF2-40B4-BE49-F238E27FC236}">
                <a16:creationId xmlns:a16="http://schemas.microsoft.com/office/drawing/2014/main" id="{B707B4FD-F434-47C8-80DA-52141669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810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api-title-0">
            <a:extLst xmlns:a="http://schemas.openxmlformats.org/drawingml/2006/main">
              <a:ext uri="{FF2B5EF4-FFF2-40B4-BE49-F238E27FC236}">
                <a16:creationId xmlns:a16="http://schemas.microsoft.com/office/drawing/2014/main" id="{45F42D3E-7A91-48D1-B578-CFFFBF92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727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JavaFX</a:t>
            </a:r>
          </a:p>
        </p:txBody>
      </p:sp>
      <p:sp>
        <p:nvSpPr>
          <p:cNvPr id="8" name="api-methods-0">
            <a:extLst xmlns:a="http://schemas.openxmlformats.org/drawingml/2006/main">
              <a:ext uri="{FF2B5EF4-FFF2-40B4-BE49-F238E27FC236}">
                <a16:creationId xmlns:a16="http://schemas.microsoft.com/office/drawing/2014/main" id="{4BAB56D8-F07B-4CEB-890F-61FFF8FF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7180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Application.launch(...)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Stage.setScene(...)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Platform.runLater(...)</a:t>
            </a:r>
          </a:p>
        </p:txBody>
      </p:sp>
      <p:sp>
        <p:nvSpPr>
          <p:cNvPr id="9" name="api-role-0">
            <a:extLst xmlns:a="http://schemas.openxmlformats.org/drawingml/2006/main">
              <a:ext uri="{FF2B5EF4-FFF2-40B4-BE49-F238E27FC236}">
                <a16:creationId xmlns:a16="http://schemas.microsoft.com/office/drawing/2014/main" id="{0DEA8AEC-BF1F-4A15-A383-97815218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33700"/>
            <a:ext cx="2619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Launch app, compose window, update UI thread</a:t>
            </a:r>
          </a:p>
        </p:txBody>
      </p:sp>
      <p:sp>
        <p:nvSpPr>
          <p:cNvPr id="10" name="api-card-1">
            <a:extLst xmlns:a="http://schemas.openxmlformats.org/drawingml/2006/main">
              <a:ext uri="{FF2B5EF4-FFF2-40B4-BE49-F238E27FC236}">
                <a16:creationId xmlns:a16="http://schemas.microsoft.com/office/drawing/2014/main" id="{12B44507-6188-4A30-9EF3-E7694C9C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95500"/>
            <a:ext cx="7810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api-title-1">
            <a:extLst xmlns:a="http://schemas.openxmlformats.org/drawingml/2006/main">
              <a:ext uri="{FF2B5EF4-FFF2-40B4-BE49-F238E27FC236}">
                <a16:creationId xmlns:a16="http://schemas.microsoft.com/office/drawing/2014/main" id="{80719470-B2A6-47E3-AEC0-D46B3E38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286000"/>
            <a:ext cx="727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Java concurrency</a:t>
            </a:r>
          </a:p>
        </p:txBody>
      </p:sp>
      <p:sp>
        <p:nvSpPr>
          <p:cNvPr id="12" name="api-methods-1">
            <a:extLst xmlns:a="http://schemas.openxmlformats.org/drawingml/2006/main">
              <a:ext uri="{FF2B5EF4-FFF2-40B4-BE49-F238E27FC236}">
                <a16:creationId xmlns:a16="http://schemas.microsoft.com/office/drawing/2014/main" id="{F5E7A9F7-4F9C-470C-953B-6C4253E5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7180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Executors.newSingleThreadExecutor(...)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TimeUnit.MILLISECONDS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AtomicLong / AtomicReference</a:t>
            </a:r>
          </a:p>
        </p:txBody>
      </p:sp>
      <p:sp>
        <p:nvSpPr>
          <p:cNvPr id="13" name="api-role-1">
            <a:extLst xmlns:a="http://schemas.openxmlformats.org/drawingml/2006/main">
              <a:ext uri="{FF2B5EF4-FFF2-40B4-BE49-F238E27FC236}">
                <a16:creationId xmlns:a16="http://schemas.microsoft.com/office/drawing/2014/main" id="{9DE0651D-3ADD-4793-9CA5-E4C4702B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933700"/>
            <a:ext cx="2619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Run commands off UI thread; coordinate snapshots</a:t>
            </a:r>
          </a:p>
        </p:txBody>
      </p:sp>
      <p:sp>
        <p:nvSpPr>
          <p:cNvPr id="14" name="api-card-2">
            <a:extLst xmlns:a="http://schemas.openxmlformats.org/drawingml/2006/main">
              <a:ext uri="{FF2B5EF4-FFF2-40B4-BE49-F238E27FC236}">
                <a16:creationId xmlns:a16="http://schemas.microsoft.com/office/drawing/2014/main" id="{F34A709A-69A4-4B9D-8ADE-CE5EC745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7810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5" name="api-title-2">
            <a:extLst xmlns:a="http://schemas.openxmlformats.org/drawingml/2006/main">
              <a:ext uri="{FF2B5EF4-FFF2-40B4-BE49-F238E27FC236}">
                <a16:creationId xmlns:a16="http://schemas.microsoft.com/office/drawing/2014/main" id="{38307791-B090-4AC3-BFED-4171D067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76875"/>
            <a:ext cx="727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Java security / crypto</a:t>
            </a:r>
          </a:p>
        </p:txBody>
      </p:sp>
      <p:sp>
        <p:nvSpPr>
          <p:cNvPr id="16" name="api-methods-2">
            <a:extLst xmlns:a="http://schemas.openxmlformats.org/drawingml/2006/main">
              <a:ext uri="{FF2B5EF4-FFF2-40B4-BE49-F238E27FC236}">
                <a16:creationId xmlns:a16="http://schemas.microsoft.com/office/drawing/2014/main" id="{28B241CC-D05B-4FB0-90DE-5FBCE20D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162675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SecureRandom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MessageDigest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SecretKeyFactory + PBEKeySpec</a:t>
            </a:r>
          </a:p>
        </p:txBody>
      </p:sp>
      <p:sp>
        <p:nvSpPr>
          <p:cNvPr id="17" name="api-role-2">
            <a:extLst xmlns:a="http://schemas.openxmlformats.org/drawingml/2006/main">
              <a:ext uri="{FF2B5EF4-FFF2-40B4-BE49-F238E27FC236}">
                <a16:creationId xmlns:a16="http://schemas.microsoft.com/office/drawing/2014/main" id="{5B79C14F-0625-4BAC-8920-5CB1D9AE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124575"/>
            <a:ext cx="2619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Generate random fixture and execute supported KDF work</a:t>
            </a:r>
          </a:p>
        </p:txBody>
      </p:sp>
      <p:sp>
        <p:nvSpPr>
          <p:cNvPr id="18" name="api-card-3">
            <a:extLst xmlns:a="http://schemas.openxmlformats.org/drawingml/2006/main">
              <a:ext uri="{FF2B5EF4-FFF2-40B4-BE49-F238E27FC236}">
                <a16:creationId xmlns:a16="http://schemas.microsoft.com/office/drawing/2014/main" id="{7744BDC1-7DD9-4DF5-8BD6-9E8B1317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86375"/>
            <a:ext cx="7810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9" name="api-title-3">
            <a:extLst xmlns:a="http://schemas.openxmlformats.org/drawingml/2006/main">
              <a:ext uri="{FF2B5EF4-FFF2-40B4-BE49-F238E27FC236}">
                <a16:creationId xmlns:a16="http://schemas.microsoft.com/office/drawing/2014/main" id="{8B0B46E9-E7D5-4FAD-92E4-20DB4370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476875"/>
            <a:ext cx="727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Java NIO</a:t>
            </a:r>
          </a:p>
        </p:txBody>
      </p:sp>
      <p:sp>
        <p:nvSpPr>
          <p:cNvPr id="20" name="api-methods-3">
            <a:extLst xmlns:a="http://schemas.openxmlformats.org/drawingml/2006/main">
              <a:ext uri="{FF2B5EF4-FFF2-40B4-BE49-F238E27FC236}">
                <a16:creationId xmlns:a16="http://schemas.microsoft.com/office/drawing/2014/main" id="{EDC55E52-2EE0-40E6-8532-C4747248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62675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Path.toAbsolutePath().normalize()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Files.isRegularFile(...)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Files.newInputStream(...)</a:t>
            </a:r>
          </a:p>
        </p:txBody>
      </p:sp>
      <p:sp>
        <p:nvSpPr>
          <p:cNvPr id="21" name="api-role-3">
            <a:extLst xmlns:a="http://schemas.openxmlformats.org/drawingml/2006/main">
              <a:ext uri="{FF2B5EF4-FFF2-40B4-BE49-F238E27FC236}">
                <a16:creationId xmlns:a16="http://schemas.microsoft.com/office/drawing/2014/main" id="{0F51BD34-EDD3-4DE0-A10B-BC45E624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124575"/>
            <a:ext cx="2619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Read only user-selected benchmark report path</a:t>
            </a:r>
          </a:p>
        </p:txBody>
      </p:sp>
      <p:sp>
        <p:nvSpPr>
          <p:cNvPr id="22" name="api-deps">
            <a:extLst xmlns:a="http://schemas.openxmlformats.org/drawingml/2006/main">
              <a:ext uri="{FF2B5EF4-FFF2-40B4-BE49-F238E27FC236}">
                <a16:creationId xmlns:a16="http://schemas.microsoft.com/office/drawing/2014/main" id="{E1410EEA-4CDC-4351-806B-33BDB86F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77250"/>
            <a:ext cx="1571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External library: Bouncy Castle provides Argon2, bcrypt and scrypt implementations. Maven manages dependencies and the JavaFX launch plugin.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2a6826da2240d2">
              <a:extLst>
                <a:ext uri="{96DAC541-7B7A-43D3-8B79-37D633B846F1}">
                  <asvg:svgBlip xmlns:asvg="http://schemas.microsoft.com/office/drawing/2016/SVG/main" r:embed="R71ad8e5d6c8943c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2a6826da2240d2">
              <a:extLst>
                <a:ext uri="{96DAC541-7B7A-43D3-8B79-37D633B846F1}">
                  <asvg:svgBlip xmlns:asvg="http://schemas.microsoft.com/office/drawing/2016/SVG/main" r:embed="R71ad8e5d6c8943c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9ace8951a74174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B8CAF8-AA94-47F7-8A52-92BC05D0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Build and Test Evidence</a:t>
            </a:r>
          </a:p>
        </p:txBody>
      </p:sp>
      <p:sp>
        <p:nvSpPr>
          <p:cNvPr id="6" name="build-0">
            <a:extLst xmlns:a="http://schemas.openxmlformats.org/drawingml/2006/main">
              <a:ext uri="{FF2B5EF4-FFF2-40B4-BE49-F238E27FC236}">
                <a16:creationId xmlns:a16="http://schemas.microsoft.com/office/drawing/2014/main" id="{49C8783B-3DE2-4D4F-A86F-91885CB7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build-title-0">
            <a:extLst xmlns:a="http://schemas.openxmlformats.org/drawingml/2006/main">
              <a:ext uri="{FF2B5EF4-FFF2-40B4-BE49-F238E27FC236}">
                <a16:creationId xmlns:a16="http://schemas.microsoft.com/office/drawing/2014/main" id="{6D73C16D-0B98-43B5-80BC-75AF7ACC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14625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pom.xml</a:t>
            </a:r>
          </a:p>
        </p:txBody>
      </p:sp>
      <p:sp>
        <p:nvSpPr>
          <p:cNvPr id="8" name="build-copy-0">
            <a:extLst xmlns:a="http://schemas.openxmlformats.org/drawingml/2006/main">
              <a:ext uri="{FF2B5EF4-FFF2-40B4-BE49-F238E27FC236}">
                <a16:creationId xmlns:a16="http://schemas.microsoft.com/office/drawing/2014/main" id="{43BD3B6C-9C11-4667-A9ED-97FE99E0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290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Java 21 + JavaFX + JUnit</a:t>
            </a:r>
          </a:p>
        </p:txBody>
      </p:sp>
      <p:sp>
        <p:nvSpPr>
          <p:cNvPr id="9" name="build-arrow-0">
            <a:extLst xmlns:a="http://schemas.openxmlformats.org/drawingml/2006/main">
              <a:ext uri="{FF2B5EF4-FFF2-40B4-BE49-F238E27FC236}">
                <a16:creationId xmlns:a16="http://schemas.microsoft.com/office/drawing/2014/main" id="{256380C3-3370-4C83-8864-E6A4FD32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95625"/>
            <a:ext cx="1428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0" name="build-1">
            <a:extLst xmlns:a="http://schemas.openxmlformats.org/drawingml/2006/main">
              <a:ext uri="{FF2B5EF4-FFF2-40B4-BE49-F238E27FC236}">
                <a16:creationId xmlns:a16="http://schemas.microsoft.com/office/drawing/2014/main" id="{4406280B-1DEA-45C7-9421-8088A183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build-title-1">
            <a:extLst xmlns:a="http://schemas.openxmlformats.org/drawingml/2006/main">
              <a:ext uri="{FF2B5EF4-FFF2-40B4-BE49-F238E27FC236}">
                <a16:creationId xmlns:a16="http://schemas.microsoft.com/office/drawing/2014/main" id="{7CCC33C7-0F35-44F2-9FEC-82D6CB90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14625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mvn test</a:t>
            </a:r>
          </a:p>
        </p:txBody>
      </p:sp>
      <p:sp>
        <p:nvSpPr>
          <p:cNvPr id="12" name="build-copy-1">
            <a:extLst xmlns:a="http://schemas.openxmlformats.org/drawingml/2006/main">
              <a:ext uri="{FF2B5EF4-FFF2-40B4-BE49-F238E27FC236}">
                <a16:creationId xmlns:a16="http://schemas.microsoft.com/office/drawing/2014/main" id="{77F587A5-6EE2-4803-887C-AB139D0F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290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Unit and boundary tests</a:t>
            </a:r>
          </a:p>
        </p:txBody>
      </p:sp>
      <p:sp>
        <p:nvSpPr>
          <p:cNvPr id="13" name="build-arrow-1">
            <a:extLst xmlns:a="http://schemas.openxmlformats.org/drawingml/2006/main">
              <a:ext uri="{FF2B5EF4-FFF2-40B4-BE49-F238E27FC236}">
                <a16:creationId xmlns:a16="http://schemas.microsoft.com/office/drawing/2014/main" id="{713FE64D-51D8-4B91-843D-1018878C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095625"/>
            <a:ext cx="1428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4" name="build-2">
            <a:extLst xmlns:a="http://schemas.openxmlformats.org/drawingml/2006/main">
              <a:ext uri="{FF2B5EF4-FFF2-40B4-BE49-F238E27FC236}">
                <a16:creationId xmlns:a16="http://schemas.microsoft.com/office/drawing/2014/main" id="{9D63A339-B69A-4141-94A7-5F7E9633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428875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5" name="build-title-2">
            <a:extLst xmlns:a="http://schemas.openxmlformats.org/drawingml/2006/main">
              <a:ext uri="{FF2B5EF4-FFF2-40B4-BE49-F238E27FC236}">
                <a16:creationId xmlns:a16="http://schemas.microsoft.com/office/drawing/2014/main" id="{1DBBBF8B-78A5-4179-8A5E-3B7C5DEB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714625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mvn package</a:t>
            </a:r>
          </a:p>
        </p:txBody>
      </p:sp>
      <p:sp>
        <p:nvSpPr>
          <p:cNvPr id="16" name="build-copy-2">
            <a:extLst xmlns:a="http://schemas.openxmlformats.org/drawingml/2006/main">
              <a:ext uri="{FF2B5EF4-FFF2-40B4-BE49-F238E27FC236}">
                <a16:creationId xmlns:a16="http://schemas.microsoft.com/office/drawing/2014/main" id="{5DCF8917-27FC-452D-88EE-EEEF3214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34290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Build artifact</a:t>
            </a:r>
          </a:p>
        </p:txBody>
      </p:sp>
      <p:sp>
        <p:nvSpPr>
          <p:cNvPr id="17" name="test-suite">
            <a:extLst xmlns:a="http://schemas.openxmlformats.org/drawingml/2006/main">
              <a:ext uri="{FF2B5EF4-FFF2-40B4-BE49-F238E27FC236}">
                <a16:creationId xmlns:a16="http://schemas.microsoft.com/office/drawing/2014/main" id="{EAF2FCE3-1FD2-4A55-B887-D21FCEF0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7620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8" name="test-suite-title">
            <a:extLst xmlns:a="http://schemas.openxmlformats.org/drawingml/2006/main">
              <a:ext uri="{FF2B5EF4-FFF2-40B4-BE49-F238E27FC236}">
                <a16:creationId xmlns:a16="http://schemas.microsoft.com/office/drawing/2014/main" id="{3E19768C-7E66-45E5-A6BD-B855ADA2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816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JUnit coverage by package</a:t>
            </a:r>
          </a:p>
        </p:txBody>
      </p:sp>
      <p:sp>
        <p:nvSpPr>
          <p:cNvPr id="19" name="test-suite-ui">
            <a:extLst xmlns:a="http://schemas.openxmlformats.org/drawingml/2006/main">
              <a:ext uri="{FF2B5EF4-FFF2-40B4-BE49-F238E27FC236}">
                <a16:creationId xmlns:a16="http://schemas.microsoft.com/office/drawing/2014/main" id="{43CC9A37-0546-49C6-92DB-221F7D0B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912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ui  •  input policy  •  estimates  •  KDF benchmark reports  •  view state</a:t>
            </a:r>
          </a:p>
        </p:txBody>
      </p:sp>
      <p:sp>
        <p:nvSpPr>
          <p:cNvPr id="20" name="test-suite-sim">
            <a:extLst xmlns:a="http://schemas.openxmlformats.org/drawingml/2006/main">
              <a:ext uri="{FF2B5EF4-FFF2-40B4-BE49-F238E27FC236}">
                <a16:creationId xmlns:a16="http://schemas.microsoft.com/office/drawing/2014/main" id="{5AC36F5B-FCCB-4691-BA32-A04A5CE6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1437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simulation  •  task partitioning  •  engine events  •  result validation</a:t>
            </a:r>
          </a:p>
        </p:txBody>
      </p:sp>
      <p:sp>
        <p:nvSpPr>
          <p:cNvPr id="21" name="test-count">
            <a:extLst xmlns:a="http://schemas.openxmlformats.org/drawingml/2006/main">
              <a:ext uri="{FF2B5EF4-FFF2-40B4-BE49-F238E27FC236}">
                <a16:creationId xmlns:a16="http://schemas.microsoft.com/office/drawing/2014/main" id="{FBDB9842-9F34-4E04-8E8C-0623E535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95875"/>
            <a:ext cx="7524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2" name="test-count-big">
            <a:extLst xmlns:a="http://schemas.openxmlformats.org/drawingml/2006/main">
              <a:ext uri="{FF2B5EF4-FFF2-40B4-BE49-F238E27FC236}">
                <a16:creationId xmlns:a16="http://schemas.microsoft.com/office/drawing/2014/main" id="{FEB4AEFA-C00A-4362-BE06-D297B8D0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24500"/>
            <a:ext cx="676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134</a:t>
            </a:r>
          </a:p>
        </p:txBody>
      </p:sp>
      <p:sp>
        <p:nvSpPr>
          <p:cNvPr id="23" name="test-count-copy">
            <a:extLst xmlns:a="http://schemas.openxmlformats.org/drawingml/2006/main">
              <a:ext uri="{FF2B5EF4-FFF2-40B4-BE49-F238E27FC236}">
                <a16:creationId xmlns:a16="http://schemas.microsoft.com/office/drawing/2014/main" id="{8DC3D1F0-5E81-433F-8448-DD51B85E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19875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tests passed in Maven validation</a:t>
            </a:r>
          </a:p>
        </p:txBody>
      </p:sp>
      <p:sp>
        <p:nvSpPr>
          <p:cNvPr id="24" name="test-commands">
            <a:extLst xmlns:a="http://schemas.openxmlformats.org/drawingml/2006/main">
              <a:ext uri="{FF2B5EF4-FFF2-40B4-BE49-F238E27FC236}">
                <a16:creationId xmlns:a16="http://schemas.microsoft.com/office/drawing/2014/main" id="{94DB29D4-3125-4565-8862-7EF4E271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28662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mvn test   ✓</a:t>
            </a:r>
          </a:p>
          <a:p xmlns:a="http://schemas.openxmlformats.org/drawingml/2006/main">
            <a: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mvn package   ✓</a:t>
            </a:r>
          </a:p>
        </p:txBody>
      </p:sp>
      <p:sp>
        <p:nvSpPr>
          <p:cNvPr id="25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9B11392C-69E0-4060-B95A-16D91E9B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572500"/>
            <a:ext cx="1504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Implementation separates UI, analysis rules, estimates and synthetic execution.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2026-10-22T05:34:19.9290000Z</dcterms:created>
  <dcterms:modified xsi:type="dcterms:W3CDTF">2026-10-22T05:34:19.9300000Z</dcterms:modified>
</coreProperties>
</file>