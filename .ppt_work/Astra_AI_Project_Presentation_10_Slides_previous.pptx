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81cf9f97fe4ece" /><Relationship Type="http://schemas.openxmlformats.org/officeDocument/2006/relationships/extended-properties" Target="/docProps/app.xml" Id="R355efb07553041dd" /><Relationship Type="http://schemas.openxmlformats.org/officeDocument/2006/relationships/officeDocument" Target="/ppt/presentation.xml" Id="Re5e01f7d321a47b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809714f7c0c4979"/>
  </p:sldMasterIdLst>
  <p:notesMasterIdLst>
    <p:notesMasterId xmlns:r="http://schemas.openxmlformats.org/officeDocument/2006/relationships" r:id="Rf70c4bb0d5324429"/>
  </p:notesMasterIdLst>
  <p:sldIdLst>
    <p:sldId xmlns:r="http://schemas.openxmlformats.org/officeDocument/2006/relationships" id="256" r:id="Rcb623397783241ba"/>
    <p:sldId xmlns:r="http://schemas.openxmlformats.org/officeDocument/2006/relationships" id="257" r:id="R5737793344b14681"/>
    <p:sldId xmlns:r="http://schemas.openxmlformats.org/officeDocument/2006/relationships" id="258" r:id="Rc6e7a294e1404d15"/>
    <p:sldId xmlns:r="http://schemas.openxmlformats.org/officeDocument/2006/relationships" id="259" r:id="R490175e1920d4a56"/>
    <p:sldId xmlns:r="http://schemas.openxmlformats.org/officeDocument/2006/relationships" id="260" r:id="R5d89e34f731b4e07"/>
    <p:sldId xmlns:r="http://schemas.openxmlformats.org/officeDocument/2006/relationships" id="261" r:id="R239215c0398443d3"/>
    <p:sldId xmlns:r="http://schemas.openxmlformats.org/officeDocument/2006/relationships" id="262" r:id="R91e09a7ce75942ec"/>
    <p:sldId xmlns:r="http://schemas.openxmlformats.org/officeDocument/2006/relationships" id="263" r:id="Rdd7e4413f8a24afc"/>
    <p:sldId xmlns:r="http://schemas.openxmlformats.org/officeDocument/2006/relationships" id="264" r:id="Rd6dd3a968e2345bf"/>
    <p:sldId xmlns:r="http://schemas.openxmlformats.org/officeDocument/2006/relationships" id="265" r:id="R75def0b5defa4d5e"/>
  </p:sldIdLst>
  <p:sldSz cx="18288000" cy="10287000"/>
  <p:notesSz cx="6858000" cy="9144000"/>
  <p:embeddedFontLst>
    <p:embeddedFont>
      <p:font typeface="Glacial Indifference Bold"/>
      <p:regular xmlns:r="http://schemas.openxmlformats.org/officeDocument/2006/relationships" r:id="Rc3af435797e44aa3"/>
    </p:embeddedFont>
    <p:embeddedFont>
      <p:font typeface="Canva Sans"/>
      <p:regular xmlns:r="http://schemas.openxmlformats.org/officeDocument/2006/relationships" r:id="R39edf46c8f524b2c"/>
    </p:embeddedFont>
    <p:embeddedFont>
      <p:font typeface="Cooper BT Bold Italics"/>
      <p:regular xmlns:r="http://schemas.openxmlformats.org/officeDocument/2006/relationships" r:id="R94610fbc50334b25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28c6f65d3f4dea" /><Relationship Type="http://schemas.openxmlformats.org/officeDocument/2006/relationships/slideMaster" Target="/ppt/slideMasters/slideMaster1.xml" Id="Rd809714f7c0c4979" /><Relationship Type="http://schemas.openxmlformats.org/officeDocument/2006/relationships/notesMaster" Target="/ppt/notesMasters/notesMaster1.xml" Id="Rf70c4bb0d5324429" /><Relationship Type="http://schemas.openxmlformats.org/officeDocument/2006/relationships/presProps" Target="/ppt/presProps.xml" Id="R877591542a7a47fc" /><Relationship Type="http://schemas.openxmlformats.org/officeDocument/2006/relationships/viewProps" Target="/ppt/viewProps.xml" Id="R12038f1516ca4b18" /><Relationship Type="http://schemas.openxmlformats.org/officeDocument/2006/relationships/tableStyles" Target="/ppt/tableStyles.xml" Id="R4eb4bcee0d04400b" /><Relationship Type="http://schemas.openxmlformats.org/officeDocument/2006/relationships/font" Target="/ppt/fonts/font.dat" Id="Rc3af435797e44aa3" /><Relationship Type="http://schemas.openxmlformats.org/officeDocument/2006/relationships/font" Target="/ppt/fonts/font2.dat" Id="R39edf46c8f524b2c" /><Relationship Type="http://schemas.openxmlformats.org/officeDocument/2006/relationships/font" Target="/ppt/fonts/font3.dat" Id="R94610fbc50334b25" /><Relationship Type="http://schemas.openxmlformats.org/officeDocument/2006/relationships/slide" Target="/ppt/slides/slide1.xml" Id="Rcb623397783241ba" /><Relationship Type="http://schemas.openxmlformats.org/officeDocument/2006/relationships/slide" Target="/ppt/slides/slide2.xml" Id="R5737793344b14681" /><Relationship Type="http://schemas.openxmlformats.org/officeDocument/2006/relationships/slide" Target="/ppt/slides/slide3.xml" Id="Rc6e7a294e1404d15" /><Relationship Type="http://schemas.openxmlformats.org/officeDocument/2006/relationships/slide" Target="/ppt/slides/slide4.xml" Id="R490175e1920d4a56" /><Relationship Type="http://schemas.openxmlformats.org/officeDocument/2006/relationships/slide" Target="/ppt/slides/slide5.xml" Id="R5d89e34f731b4e07" /><Relationship Type="http://schemas.openxmlformats.org/officeDocument/2006/relationships/slide" Target="/ppt/slides/slide6.xml" Id="R239215c0398443d3" /><Relationship Type="http://schemas.openxmlformats.org/officeDocument/2006/relationships/slide" Target="/ppt/slides/slide7.xml" Id="R91e09a7ce75942ec" /><Relationship Type="http://schemas.openxmlformats.org/officeDocument/2006/relationships/slide" Target="/ppt/slides/slide8.xml" Id="Rdd7e4413f8a24afc" /><Relationship Type="http://schemas.openxmlformats.org/officeDocument/2006/relationships/slide" Target="/ppt/slides/slide9.xml" Id="Rd6dd3a968e2345bf" /><Relationship Type="http://schemas.openxmlformats.org/officeDocument/2006/relationships/slide" Target="/ppt/slides/slide10.xml" Id="R75def0b5defa4d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6d09405ffe48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1d5743f0a24a8c" /><Relationship Type="http://schemas.openxmlformats.org/officeDocument/2006/relationships/notesMaster" Target="/ppt/notesMasters/notesMaster1.xml" Id="R31590e964d2f4d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b813b160af4707" /><Relationship Type="http://schemas.openxmlformats.org/officeDocument/2006/relationships/notesMaster" Target="/ppt/notesMasters/notesMaster1.xml" Id="R0e3a85c6ae134c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2310c0dfdf41d2" /><Relationship Type="http://schemas.openxmlformats.org/officeDocument/2006/relationships/notesMaster" Target="/ppt/notesMasters/notesMaster1.xml" Id="R37fb84ca513a4c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c79b341bc04e2e" /><Relationship Type="http://schemas.openxmlformats.org/officeDocument/2006/relationships/notesMaster" Target="/ppt/notesMasters/notesMaster1.xml" Id="R015e762e7e2b49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cf961a59944733" /><Relationship Type="http://schemas.openxmlformats.org/officeDocument/2006/relationships/notesMaster" Target="/ppt/notesMasters/notesMaster1.xml" Id="Rf677ce5f0e4644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232c0989a44111" /><Relationship Type="http://schemas.openxmlformats.org/officeDocument/2006/relationships/notesMaster" Target="/ppt/notesMasters/notesMaster1.xml" Id="R3738b57e98eb43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b0da6e3d75439b" /><Relationship Type="http://schemas.openxmlformats.org/officeDocument/2006/relationships/notesMaster" Target="/ppt/notesMasters/notesMaster1.xml" Id="R4825c3fd616a46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5c66e5de9f402d" /><Relationship Type="http://schemas.openxmlformats.org/officeDocument/2006/relationships/notesMaster" Target="/ppt/notesMasters/notesMaster1.xml" Id="R868d38fb255d42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04f8b78b1c4774" /><Relationship Type="http://schemas.openxmlformats.org/officeDocument/2006/relationships/notesMaster" Target="/ppt/notesMasters/notesMaster1.xml" Id="R8fedf72d8d094f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2729d2c5744f6d" /><Relationship Type="http://schemas.openxmlformats.org/officeDocument/2006/relationships/notesMaster" Target="/ppt/notesMasters/notesMaster1.xml" Id="R67d4f38061b040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395bec23240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bc237809b46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a009882744f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00a25751f42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d0e0849cc40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02cd5bb744f1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ea974a2294c2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7ffe995f245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2fbd952ca4c8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bf4c58528440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6f5b7828db438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24B0A1-982E-4480-ABD2-A5403D3B3F0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4820627-DA03-489C-AC95-0D0D5985A9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A28520-EF10-4943-AC02-7F8ABA7384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7764D5-7691-49C7-BE49-2D8EBDCCFA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97F399-C07F-4D7C-BEBC-42A4EB4033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318E12-5D50-4A95-A37A-2866025A6864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CD33184-9B16-4DF6-B27E-E8D1DCF1F5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6CCFCDD-2A27-40B9-9604-39A7F56EAD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AA81E3-B1DB-4909-A8D1-9AA563D4D0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7F87E8-9678-4AD3-BD08-B7538D35C8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A725D6-03C8-451F-9B72-F8C2E9CEE0A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AD0327-3B1C-4833-93A5-7564188F0A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B8FCD7-ECD3-4344-93D6-2F03AAC923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47EBB4-9A25-4B87-8A28-C8AD51B166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65A3C6-B5DA-4867-B974-29B1E278A7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B6DA0E-0444-41C5-95DA-3B8617E05159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A5BBB1-0AAC-469E-84AE-EE24FA9D47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3C68CD5-D79E-4472-BBEF-BAD7822B22D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699010A-7109-489C-AC51-48915B915E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11DC368-A46A-4F16-8534-CF7E58B3EE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2942423-B0C9-4E4A-B82B-46E2B79C2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E3F977-6361-45D0-BA95-DFF1B7538D41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7AE59DB-4DCB-4FDE-BDFC-C1AD610D77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3985B55-CB89-451A-BE53-85E7FD0433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640749F-7FFF-47D1-B499-028FFB9D3FD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D75F3C8-95D1-450D-89A8-FDF7E557F41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773E02A-A9D7-4BB4-9932-FEF0369033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EE5A7CF-3B42-4D36-BE8E-5491FA002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4F6304C-CEBC-400B-9F8E-EAB4333180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CCBC07-12E8-446A-9781-8A65986C3BE6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F53AFC-7194-43F3-BA43-08B8E013C0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C4C4AB-CB39-4BB3-B9E3-1893AD7EA8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139874C-5FEA-422D-974A-E42C462614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3DC88-C302-4ABD-B837-BD2275760A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E8DD72D-BDE9-4E18-9134-CE986F3E66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82F9DD1-11AD-44DA-A8C4-51DAC1B3C4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409439-7B25-4BDD-A525-07936F64A89B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6C44D59-FD01-4670-A21C-DAEAB89230C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7AD702A-588C-4819-AFB1-C2218D4C17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37D127A-12CF-4FE6-99B9-BCEC79DFD8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E4A665E-4E82-4747-9647-DD89AAAC52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061D93-CD3F-4CCD-84F2-7A65EB2E82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92F8F4-AD85-48AF-9481-07295598B66C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DD8034F-7F5E-454E-91F0-EC3279DC5C5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89E0292-906A-4936-B311-20EE7A0A4B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C19DA0D-40E6-4DDA-B3D0-80CE183CB5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B48EC25-C902-4ECC-8EAF-44ABB8F5FE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35A56E3-42CD-448A-90DF-F5DB4CEC06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79C44C-8094-4386-B07E-907F659BA8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BF6D959-EFD7-4C6D-BFAD-7C57DE2342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BFBFCE-A54E-418D-9DE0-51549D8C58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8764F18-ADD5-441F-AA57-EDC83A498C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BAA8BC-44DB-4765-95A2-CF8A7E09A4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B187160-AD52-4F68-95B4-94A97571AE85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E1BF59-50DD-47AD-A6E4-7DFE960369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E784A8-DA3C-4369-B296-4F75807EE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F2076BC-9E21-4444-8B72-4CB0290316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80FFF6-030D-45E5-909C-F54CFF32A5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91e94d19df48f5" /><Relationship Type="http://schemas.openxmlformats.org/officeDocument/2006/relationships/slideLayout" Target="/ppt/slideLayouts/slideLayout1.xml" Id="R56692131fa2d4193" /><Relationship Type="http://schemas.openxmlformats.org/officeDocument/2006/relationships/slideLayout" Target="/ppt/slideLayouts/slideLayout2.xml" Id="R8af6dbff20964d05" /><Relationship Type="http://schemas.openxmlformats.org/officeDocument/2006/relationships/slideLayout" Target="/ppt/slideLayouts/slideLayout3.xml" Id="R7e1c5e7cceb34733" /><Relationship Type="http://schemas.openxmlformats.org/officeDocument/2006/relationships/slideLayout" Target="/ppt/slideLayouts/slideLayout4.xml" Id="R770603e1d8274119" /><Relationship Type="http://schemas.openxmlformats.org/officeDocument/2006/relationships/slideLayout" Target="/ppt/slideLayouts/slideLayout5.xml" Id="R44656303af754e37" /><Relationship Type="http://schemas.openxmlformats.org/officeDocument/2006/relationships/slideLayout" Target="/ppt/slideLayouts/slideLayout6.xml" Id="Rf3ab33707f73446b" /><Relationship Type="http://schemas.openxmlformats.org/officeDocument/2006/relationships/slideLayout" Target="/ppt/slideLayouts/slideLayout7.xml" Id="R69e3663f343c4cd2" /><Relationship Type="http://schemas.openxmlformats.org/officeDocument/2006/relationships/slideLayout" Target="/ppt/slideLayouts/slideLayout8.xml" Id="R8a11425bb5524232" /><Relationship Type="http://schemas.openxmlformats.org/officeDocument/2006/relationships/slideLayout" Target="/ppt/slideLayouts/slideLayout9.xml" Id="Ra2fa82ff188a4edb" /><Relationship Type="http://schemas.openxmlformats.org/officeDocument/2006/relationships/slideLayout" Target="/ppt/slideLayouts/slideLayout10.xml" Id="R5e6e4e73074c4ee7" /><Relationship Type="http://schemas.openxmlformats.org/officeDocument/2006/relationships/slideLayout" Target="/ppt/slideLayouts/slideLayout11.xml" Id="R2bdc825415c0444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DF9A3D0-AAA0-4FB2-84A0-CFFA1C53CDF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C3807CF-4D56-4FCC-8D9D-C9A05098C8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D4F5649-8AFD-4612-A28C-AFB98743255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B0C2244-B87A-4154-97FD-D199E9432EF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14A3A3-34B2-4373-B000-9E0A182B942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692131fa2d4193"/>
    <p:sldLayoutId xmlns:r="http://schemas.openxmlformats.org/officeDocument/2006/relationships" id="2147483650" r:id="R8af6dbff20964d05"/>
    <p:sldLayoutId xmlns:r="http://schemas.openxmlformats.org/officeDocument/2006/relationships" id="2147483651" r:id="R7e1c5e7cceb34733"/>
    <p:sldLayoutId xmlns:r="http://schemas.openxmlformats.org/officeDocument/2006/relationships" id="2147483652" r:id="R770603e1d8274119"/>
    <p:sldLayoutId xmlns:r="http://schemas.openxmlformats.org/officeDocument/2006/relationships" id="2147483653" r:id="R44656303af754e37"/>
    <p:sldLayoutId xmlns:r="http://schemas.openxmlformats.org/officeDocument/2006/relationships" id="2147483654" r:id="Rf3ab33707f73446b"/>
    <p:sldLayoutId xmlns:r="http://schemas.openxmlformats.org/officeDocument/2006/relationships" id="2147483655" r:id="R69e3663f343c4cd2"/>
    <p:sldLayoutId xmlns:r="http://schemas.openxmlformats.org/officeDocument/2006/relationships" id="2147483656" r:id="R8a11425bb5524232"/>
    <p:sldLayoutId xmlns:r="http://schemas.openxmlformats.org/officeDocument/2006/relationships" id="2147483657" r:id="Ra2fa82ff188a4edb"/>
    <p:sldLayoutId xmlns:r="http://schemas.openxmlformats.org/officeDocument/2006/relationships" id="2147483658" r:id="R5e6e4e73074c4ee7"/>
    <p:sldLayoutId xmlns:r="http://schemas.openxmlformats.org/officeDocument/2006/relationships" id="2147483659" r:id="R2bdc825415c04443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192184f3a34d9c" /><Relationship Type="http://schemas.openxmlformats.org/officeDocument/2006/relationships/image" Target="/ppt/media/image.png" Id="Ra521f04f96c5447e" /><Relationship Type="http://schemas.openxmlformats.org/officeDocument/2006/relationships/image" Target="/ppt/media/image.svg" Id="R56c3634297bc4c73" /><Relationship Type="http://schemas.openxmlformats.org/officeDocument/2006/relationships/image" Target="/ppt/media/image2.png" Id="R3d08ea15872148d6" /><Relationship Type="http://schemas.openxmlformats.org/officeDocument/2006/relationships/image" Target="/ppt/media/image3.png" Id="Rb5fbc50d68b4498b" /><Relationship Type="http://schemas.openxmlformats.org/officeDocument/2006/relationships/image" Target="/ppt/media/image4.png" Id="Rb5782ef4fa3c49c9" /><Relationship Type="http://schemas.openxmlformats.org/officeDocument/2006/relationships/notesSlide" Target="/ppt/notesSlides/notesSlide1.xml" Id="R47f3342bd11e46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24980ca60a45df" /><Relationship Type="http://schemas.openxmlformats.org/officeDocument/2006/relationships/image" Target="/ppt/media/image.png" Id="R9485530258284549" /><Relationship Type="http://schemas.openxmlformats.org/officeDocument/2006/relationships/image" Target="/ppt/media/image.svg" Id="Ra0789bd8611647ec" /><Relationship Type="http://schemas.openxmlformats.org/officeDocument/2006/relationships/image" Target="/ppt/media/image2.png" Id="R2941625838fb435a" /><Relationship Type="http://schemas.openxmlformats.org/officeDocument/2006/relationships/image" Target="/ppt/media/image3.png" Id="R791e70a32ef542f1" /><Relationship Type="http://schemas.openxmlformats.org/officeDocument/2006/relationships/image" Target="/ppt/media/image4.png" Id="Rca5e14cc05e94ce5" /><Relationship Type="http://schemas.openxmlformats.org/officeDocument/2006/relationships/notesSlide" Target="/ppt/notesSlides/notesSlide2.xml" Id="R7207c3d44e1840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f6ccd10ac344b2" /><Relationship Type="http://schemas.openxmlformats.org/officeDocument/2006/relationships/image" Target="/ppt/media/image.png" Id="Re5930a91ad4644bd" /><Relationship Type="http://schemas.openxmlformats.org/officeDocument/2006/relationships/image" Target="/ppt/media/image.svg" Id="R29a3e980387f46cd" /><Relationship Type="http://schemas.openxmlformats.org/officeDocument/2006/relationships/image" Target="/ppt/media/image2.png" Id="R511b8aec0e1a45a9" /><Relationship Type="http://schemas.openxmlformats.org/officeDocument/2006/relationships/image" Target="/ppt/media/image5.png" Id="Rcb80de37d63a4f8d" /><Relationship Type="http://schemas.openxmlformats.org/officeDocument/2006/relationships/notesSlide" Target="/ppt/notesSlides/notesSlide3.xml" Id="Rf2684217daf74e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fdc397e8ea457e" /><Relationship Type="http://schemas.openxmlformats.org/officeDocument/2006/relationships/image" Target="/ppt/media/image.png" Id="R6c60c119bd4b46d2" /><Relationship Type="http://schemas.openxmlformats.org/officeDocument/2006/relationships/image" Target="/ppt/media/image.svg" Id="Rb0176291d431470d" /><Relationship Type="http://schemas.openxmlformats.org/officeDocument/2006/relationships/image" Target="/ppt/media/image2.png" Id="Rfb018a0a388f48b4" /><Relationship Type="http://schemas.openxmlformats.org/officeDocument/2006/relationships/notesSlide" Target="/ppt/notesSlides/notesSlide4.xml" Id="R73ba8de1e73747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1c8b6ef80143b7" /><Relationship Type="http://schemas.openxmlformats.org/officeDocument/2006/relationships/image" Target="/ppt/media/image.png" Id="R3959487d9c1f44d2" /><Relationship Type="http://schemas.openxmlformats.org/officeDocument/2006/relationships/image" Target="/ppt/media/image.svg" Id="R216ec586c69a4c2b" /><Relationship Type="http://schemas.openxmlformats.org/officeDocument/2006/relationships/image" Target="/ppt/media/image2.png" Id="R82614cacc83241bc" /><Relationship Type="http://schemas.openxmlformats.org/officeDocument/2006/relationships/notesSlide" Target="/ppt/notesSlides/notesSlide5.xml" Id="R5dcfdd685b554f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1bf642e6f349c8" /><Relationship Type="http://schemas.openxmlformats.org/officeDocument/2006/relationships/image" Target="/ppt/media/image.png" Id="Red57120af1e041a3" /><Relationship Type="http://schemas.openxmlformats.org/officeDocument/2006/relationships/image" Target="/ppt/media/image.svg" Id="R1b6248ce40a44900" /><Relationship Type="http://schemas.openxmlformats.org/officeDocument/2006/relationships/image" Target="/ppt/media/image2.png" Id="Rf6a5d5e308274014" /><Relationship Type="http://schemas.openxmlformats.org/officeDocument/2006/relationships/notesSlide" Target="/ppt/notesSlides/notesSlide6.xml" Id="Ra63291127e3e40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83db82af784e6f" /><Relationship Type="http://schemas.openxmlformats.org/officeDocument/2006/relationships/image" Target="/ppt/media/image.png" Id="Rbf063dc4b65f4313" /><Relationship Type="http://schemas.openxmlformats.org/officeDocument/2006/relationships/image" Target="/ppt/media/image.svg" Id="R194a7d31928d41d7" /><Relationship Type="http://schemas.openxmlformats.org/officeDocument/2006/relationships/image" Target="/ppt/media/image2.png" Id="R1d03c0ae8aaa418e" /><Relationship Type="http://schemas.openxmlformats.org/officeDocument/2006/relationships/notesSlide" Target="/ppt/notesSlides/notesSlide7.xml" Id="Rb31c0bd8497d45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3ad5fba0bf4c59" /><Relationship Type="http://schemas.openxmlformats.org/officeDocument/2006/relationships/image" Target="/ppt/media/image.png" Id="R397946b57e554ba8" /><Relationship Type="http://schemas.openxmlformats.org/officeDocument/2006/relationships/image" Target="/ppt/media/image.svg" Id="R1e5bec6593354c11" /><Relationship Type="http://schemas.openxmlformats.org/officeDocument/2006/relationships/image" Target="/ppt/media/image2.png" Id="R6cb427248a0c4d3c" /><Relationship Type="http://schemas.openxmlformats.org/officeDocument/2006/relationships/notesSlide" Target="/ppt/notesSlides/notesSlide8.xml" Id="R4fe6809faec84e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43ae154965473d" /><Relationship Type="http://schemas.openxmlformats.org/officeDocument/2006/relationships/image" Target="/ppt/media/image.png" Id="R29c50b8dceda4396" /><Relationship Type="http://schemas.openxmlformats.org/officeDocument/2006/relationships/image" Target="/ppt/media/image.svg" Id="R2b3a875307f046d5" /><Relationship Type="http://schemas.openxmlformats.org/officeDocument/2006/relationships/image" Target="/ppt/media/image2.png" Id="R344374946b114a8d" /><Relationship Type="http://schemas.openxmlformats.org/officeDocument/2006/relationships/notesSlide" Target="/ppt/notesSlides/notesSlide9.xml" Id="R799b8569b6964f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3389a3b07c4697" /><Relationship Type="http://schemas.openxmlformats.org/officeDocument/2006/relationships/image" Target="/ppt/media/image.png" Id="Rde8d3dddd8154b40" /><Relationship Type="http://schemas.openxmlformats.org/officeDocument/2006/relationships/image" Target="/ppt/media/image.svg" Id="Rfb6b5ba3fa05463a" /><Relationship Type="http://schemas.openxmlformats.org/officeDocument/2006/relationships/image" Target="/ppt/media/image2.png" Id="R58a880eabd6b413f" /><Relationship Type="http://schemas.openxmlformats.org/officeDocument/2006/relationships/notesSlide" Target="/ppt/notesSlides/notesSlide10.xml" Id="R5f5c93c3f4024c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FD43111-732F-413E-BE70-739DE83B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21f04f96c5447e">
              <a:extLst>
                <a:ext uri="{96DAC541-7B7A-43D3-8B79-37D633B846F1}">
                  <asvg:svgBlip xmlns:asvg="http://schemas.microsoft.com/office/drawing/2016/SVG/main" r:embed="R56c3634297bc4c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FC25994-697B-4708-AE3B-2E0F07CE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21f04f96c5447e">
              <a:extLst>
                <a:ext uri="{96DAC541-7B7A-43D3-8B79-37D633B846F1}">
                  <asvg:svgBlip xmlns:asvg="http://schemas.microsoft.com/office/drawing/2016/SVG/main" r:embed="R56c3634297bc4c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C85C555-201A-46E1-91BE-0895F1DA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32993" y="-234171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d08ea15872148d6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DF5C19D-2FD5-4E48-A917-5E15D936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132180" y="-2184530"/>
            <a:ext cx="6726012" cy="2679195"/>
          </a:xfrm>
          <a:custGeom xmlns:a="http://schemas.openxmlformats.org/drawingml/2006/main">
            <a:rect l="l" t="t" r="r" b="b"/>
            <a:pathLst>
              <a:path w="6726012" h="2679195">
                <a:moveTo>
                  <a:pt x="0" y="0"/>
                </a:moveTo>
                <a:lnTo>
                  <a:pt x="6726012" y="0"/>
                </a:lnTo>
                <a:lnTo>
                  <a:pt x="6726012" y="2679195"/>
                </a:lnTo>
                <a:lnTo>
                  <a:pt x="0" y="267919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5fbc50d68b4498b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A3D6FDC-EE6D-432D-9F5B-F1791499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832" y="10137500"/>
            <a:ext cx="18288000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"The combination of weak passwords and weak hashing algorithms significantly increases the risk of password recovery after a data breach. Modern AI-based password guessing tools such as PassGAN can exploit predictable password patterns, making strong hashing mechanisms essential for user security.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59D7939-C4EB-416D-B55D-70607B23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5708" y="1192697"/>
            <a:ext cx="2445068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  <a:r>
              <a:rPr sz="3399">
                <a:solidFill>
                  <a:srgbClr val="000000"/>
                </a:solidFill>
                <a:latin typeface="Canva Sans"/>
                <a:ea typeface="Canva Sans"/>
                <a:cs typeface="Canva Sans"/>
              </a:rPr>
              <a:t>Project title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7DE8D89-4528-4870-AFB2-225C91A4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7520" y="7024775"/>
            <a:ext cx="4263896" cy="1180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buNone/>
            </a:pPr>
            <a:r>
              <a:rPr sz="3399">
                <a:solidFill>
                  <a:srgbClr val="000000"/>
                </a:solidFill>
                <a:latin typeface="Canva Sans"/>
                <a:ea typeface="Canva Sans"/>
                <a:cs typeface="Canva Sans"/>
              </a:rPr>
              <a:t>Presented by:</a:t>
            </a:r>
          </a:p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86612B2-3F48-4309-8874-59DF2632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031589" y="5933758"/>
            <a:ext cx="17405534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AI has not broken cryptography itself. Instead, it has become highly effective at exploiting human-created password patterns. Organizations must use strong password hashing algorithms (bcrypt, Argon2, PBKDF2) and enforce strong password policies to protect users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8FEC77E-74A1-4912-80E0-C841A235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53586" y="9900690"/>
            <a:ext cx="4177732" cy="5234850"/>
          </a:xfrm>
          <a:custGeom xmlns:a="http://schemas.openxmlformats.org/drawingml/2006/main">
            <a:rect l="l" t="t" r="r" b="b"/>
            <a:pathLst>
              <a:path w="4177732" h="5234850">
                <a:moveTo>
                  <a:pt x="0" y="0"/>
                </a:moveTo>
                <a:lnTo>
                  <a:pt x="4177732" y="0"/>
                </a:lnTo>
                <a:lnTo>
                  <a:pt x="4177732" y="5234850"/>
                </a:lnTo>
                <a:lnTo>
                  <a:pt x="0" y="52348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5782ef4fa3c49c9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EE92B94-457D-4CF6-BA45-D157C02A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894715"/>
            <a:ext cx="14798349" cy="894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7279"/>
              </a:lnSpc>
              <a:buNone/>
            </a:pPr>
            <a:r>
              <a:rPr sz="5199" b="1" i="1" spc="-18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Why Password hashing is important?</a:t>
            </a:r>
          </a:p>
        </p:txBody>
      </p:sp>
    </p:spTree>
    <p:extLst>
      <p:ext uri="{BB962C8B-B14F-4D97-AF65-F5344CB8AC3E}">
        <p14:creationId xmlns:p14="http://schemas.microsoft.com/office/powerpoint/2010/main" val="2064330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8B0EC3D-9C94-479B-BAFB-FC967D16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85530258284549">
              <a:extLst>
                <a:ext uri="{96DAC541-7B7A-43D3-8B79-37D633B846F1}">
                  <asvg:svgBlip xmlns:asvg="http://schemas.microsoft.com/office/drawing/2016/SVG/main" r:embed="Ra0789bd8611647e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26E9379-A3D2-4999-BAFE-0C5F0D66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85530258284549">
              <a:extLst>
                <a:ext uri="{96DAC541-7B7A-43D3-8B79-37D633B846F1}">
                  <asvg:svgBlip xmlns:asvg="http://schemas.microsoft.com/office/drawing/2016/SVG/main" r:embed="Ra0789bd8611647e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450F2CDD-BA04-4824-B67D-737D94EE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41625838fb435a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7FAD824-74DF-4150-A5AE-251D9741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3999" y="1028700"/>
            <a:ext cx="6726012" cy="2679195"/>
          </a:xfrm>
          <a:custGeom xmlns:a="http://schemas.openxmlformats.org/drawingml/2006/main">
            <a:rect l="l" t="t" r="r" b="b"/>
            <a:pathLst>
              <a:path w="6726012" h="2679195">
                <a:moveTo>
                  <a:pt x="0" y="0"/>
                </a:moveTo>
                <a:lnTo>
                  <a:pt x="6726012" y="0"/>
                </a:lnTo>
                <a:lnTo>
                  <a:pt x="6726012" y="2679195"/>
                </a:lnTo>
                <a:lnTo>
                  <a:pt x="0" y="267919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1e70a32ef542f1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746FCDC-4B9A-425E-8417-AAFA8109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816" y="3974032"/>
            <a:ext cx="17694367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The combination of weak passwords and weak hashing algorithms significantly increases the risk of password recovery after a data breach. Modern AI-based password guessing tools such as PassGAN can exploit predictable password patterns, making strong hashing mechanisms essential for user security.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F9EDB0A-110C-4575-9442-546D785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233" y="6877685"/>
            <a:ext cx="17846767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AI has not broken cryptography itself. Instead, it has become highly effective at exploiting human-created password patterns. Organizations must use strong password hashing algorithms (bcrypt, Argon2, PBKDF2) and enforce strong password policies to protect users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20C0DE0-2343-48C8-B5A1-B4E2FB04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98906" y="151321"/>
            <a:ext cx="2983206" cy="3738065"/>
          </a:xfrm>
          <a:custGeom xmlns:a="http://schemas.openxmlformats.org/drawingml/2006/main">
            <a:rect l="l" t="t" r="r" b="b"/>
            <a:pathLst>
              <a:path w="2983206" h="3738065">
                <a:moveTo>
                  <a:pt x="0" y="0"/>
                </a:moveTo>
                <a:lnTo>
                  <a:pt x="2983205" y="0"/>
                </a:lnTo>
                <a:lnTo>
                  <a:pt x="2983205" y="3738065"/>
                </a:lnTo>
                <a:lnTo>
                  <a:pt x="0" y="373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a5e14cc05e94ce5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24D64F2-55E4-45B1-9409-DA3F3545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894715"/>
            <a:ext cx="14798349" cy="894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7279"/>
              </a:lnSpc>
              <a:buNone/>
            </a:pPr>
            <a:r>
              <a:rPr sz="5199" b="1" i="1" spc="-18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Why Password hashing is important?</a:t>
            </a:r>
          </a:p>
        </p:txBody>
      </p:sp>
    </p:spTree>
    <p:extLst>
      <p:ext uri="{BB962C8B-B14F-4D97-AF65-F5344CB8AC3E}">
        <p14:creationId xmlns:p14="http://schemas.microsoft.com/office/powerpoint/2010/main" val="201874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B9EE01A-BE46-4852-B7C2-1514697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5930a91ad4644bd">
              <a:extLst>
                <a:ext uri="{96DAC541-7B7A-43D3-8B79-37D633B846F1}">
                  <asvg:svgBlip xmlns:asvg="http://schemas.microsoft.com/office/drawing/2016/SVG/main" r:embed="R29a3e980387f46c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15B3BE7-A488-4194-939F-C6FB55D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5930a91ad4644bd">
              <a:extLst>
                <a:ext uri="{96DAC541-7B7A-43D3-8B79-37D633B846F1}">
                  <asvg:svgBlip xmlns:asvg="http://schemas.microsoft.com/office/drawing/2016/SVG/main" r:embed="R29a3e980387f46c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F844981-8B87-49CD-9988-9F40721A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11b8aec0e1a45a9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1F10116-9DD3-4F74-BBBA-9624C38C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1195" y="784509"/>
            <a:ext cx="12445610" cy="8297074"/>
          </a:xfrm>
          <a:custGeom xmlns:a="http://schemas.openxmlformats.org/drawingml/2006/main">
            <a:rect l="l" t="t" r="r" b="b"/>
            <a:pathLst>
              <a:path w="12445610" h="8297074">
                <a:moveTo>
                  <a:pt x="0" y="0"/>
                </a:moveTo>
                <a:lnTo>
                  <a:pt x="12445610" y="0"/>
                </a:lnTo>
                <a:lnTo>
                  <a:pt x="12445610" y="8297073"/>
                </a:lnTo>
                <a:lnTo>
                  <a:pt x="0" y="82970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80de37d63a4f8d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F4B0EA3-7192-463B-87BA-5984305B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894715"/>
            <a:ext cx="14798349" cy="894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7279"/>
              </a:lnSpc>
              <a:buNone/>
            </a:pPr>
            <a:r>
              <a:rPr sz="5199" b="1" i="1" spc="-18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Why Password hashing is important?</a:t>
            </a:r>
          </a:p>
        </p:txBody>
      </p:sp>
    </p:spTree>
    <p:extLst>
      <p:ext uri="{BB962C8B-B14F-4D97-AF65-F5344CB8AC3E}">
        <p14:creationId xmlns:p14="http://schemas.microsoft.com/office/powerpoint/2010/main" val="31517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B9EE01A-BE46-4852-B7C2-1514697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c60c119bd4b46d2">
              <a:extLst>
                <a:ext uri="{96DAC541-7B7A-43D3-8B79-37D633B846F1}">
                  <asvg:svgBlip xmlns:asvg="http://schemas.microsoft.com/office/drawing/2016/SVG/main" r:embed="Rb0176291d431470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15B3BE7-A488-4194-939F-C6FB55D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c60c119bd4b46d2">
              <a:extLst>
                <a:ext uri="{96DAC541-7B7A-43D3-8B79-37D633B846F1}">
                  <asvg:svgBlip xmlns:asvg="http://schemas.microsoft.com/office/drawing/2016/SVG/main" r:embed="Rb0176291d431470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F844981-8B87-49CD-9988-9F40721A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018a0a388f48b4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F03750-51A5-4C2F-8AC5-17A221B6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Astra AI: Educational Password Analysis</a:t>
            </a:r>
          </a:p>
        </p:txBody>
      </p:sp>
      <p:sp>
        <p:nvSpPr>
          <p:cNvPr id="6" name="bridge-copy">
            <a:extLst xmlns:a="http://schemas.openxmlformats.org/drawingml/2006/main">
              <a:ext uri="{FF2B5EF4-FFF2-40B4-BE49-F238E27FC236}">
                <a16:creationId xmlns:a16="http://schemas.microsoft.com/office/drawing/2014/main" id="{0583C743-7A16-48DA-B28F-0F785DFD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1609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Users need a clear way to explore password characteristics and compare password-hashing approaches. Astra AI brings local heuristic analysis and algorithm guidance into one desktop interface.</a:t>
            </a:r>
          </a:p>
        </p:txBody>
      </p:sp>
      <p:sp>
        <p:nvSpPr>
          <p:cNvPr id="7" name="bridge-node-1">
            <a:extLst xmlns:a="http://schemas.openxmlformats.org/drawingml/2006/main">
              <a:ext uri="{FF2B5EF4-FFF2-40B4-BE49-F238E27FC236}">
                <a16:creationId xmlns:a16="http://schemas.microsoft.com/office/drawing/2014/main" id="{AEF22F6A-6791-483C-918F-69CF7F7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3810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8" name="bridge-heading-1">
            <a:extLst xmlns:a="http://schemas.openxmlformats.org/drawingml/2006/main">
              <a:ext uri="{FF2B5EF4-FFF2-40B4-BE49-F238E27FC236}">
                <a16:creationId xmlns:a16="http://schemas.microsoft.com/office/drawing/2014/main" id="{79ED3D42-01B6-4F26-B0AF-B23BF74B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38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 Input</a:t>
            </a:r>
          </a:p>
        </p:txBody>
      </p:sp>
      <p:sp>
        <p:nvSpPr>
          <p:cNvPr id="9" name="bridge-detail-1">
            <a:extLst xmlns:a="http://schemas.openxmlformats.org/drawingml/2006/main">
              <a:ext uri="{FF2B5EF4-FFF2-40B4-BE49-F238E27FC236}">
                <a16:creationId xmlns:a16="http://schemas.microsoft.com/office/drawing/2014/main" id="{7F5207BE-4563-46C4-B4CF-0F518333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90550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Entered for local analysis</a:t>
            </a:r>
          </a:p>
        </p:txBody>
      </p:sp>
      <p:sp>
        <p:nvSpPr>
          <p:cNvPr id="10" name="bridge-node-2">
            <a:extLst xmlns:a="http://schemas.openxmlformats.org/drawingml/2006/main">
              <a:ext uri="{FF2B5EF4-FFF2-40B4-BE49-F238E27FC236}">
                <a16:creationId xmlns:a16="http://schemas.microsoft.com/office/drawing/2014/main" id="{673BB347-5A04-424C-96A6-DA4A63B2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05375"/>
            <a:ext cx="3810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bridge-heading-2">
            <a:extLst xmlns:a="http://schemas.openxmlformats.org/drawingml/2006/main">
              <a:ext uri="{FF2B5EF4-FFF2-40B4-BE49-F238E27FC236}">
                <a16:creationId xmlns:a16="http://schemas.microsoft.com/office/drawing/2014/main" id="{D2D1AEC6-0797-4919-8EC1-2CD92916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38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Heuristic Analysis</a:t>
            </a:r>
          </a:p>
        </p:txBody>
      </p:sp>
      <p:sp>
        <p:nvSpPr>
          <p:cNvPr id="12" name="bridge-detail-2">
            <a:extLst xmlns:a="http://schemas.openxmlformats.org/drawingml/2006/main">
              <a:ext uri="{FF2B5EF4-FFF2-40B4-BE49-F238E27FC236}">
                <a16:creationId xmlns:a16="http://schemas.microsoft.com/office/drawing/2014/main" id="{C100343C-A238-4663-913F-E5877CBA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90550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Character patterns are assessed</a:t>
            </a:r>
          </a:p>
        </p:txBody>
      </p:sp>
      <p:sp>
        <p:nvSpPr>
          <p:cNvPr id="13" name="bridge-node-3">
            <a:extLst xmlns:a="http://schemas.openxmlformats.org/drawingml/2006/main">
              <a:ext uri="{FF2B5EF4-FFF2-40B4-BE49-F238E27FC236}">
                <a16:creationId xmlns:a16="http://schemas.microsoft.com/office/drawing/2014/main" id="{FC4C64A3-40D9-4DAA-8542-3E4CD8CB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905375"/>
            <a:ext cx="3810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4" name="bridge-heading-3">
            <a:extLst xmlns:a="http://schemas.openxmlformats.org/drawingml/2006/main">
              <a:ext uri="{FF2B5EF4-FFF2-40B4-BE49-F238E27FC236}">
                <a16:creationId xmlns:a16="http://schemas.microsoft.com/office/drawing/2014/main" id="{3B11C64C-87B8-414F-9A8D-B44D8EA2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5238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Hashing Guidance</a:t>
            </a:r>
          </a:p>
        </p:txBody>
      </p:sp>
      <p:sp>
        <p:nvSpPr>
          <p:cNvPr id="15" name="bridge-detail-3">
            <a:extLst xmlns:a="http://schemas.openxmlformats.org/drawingml/2006/main">
              <a:ext uri="{FF2B5EF4-FFF2-40B4-BE49-F238E27FC236}">
                <a16:creationId xmlns:a16="http://schemas.microsoft.com/office/drawing/2014/main" id="{FEE89D2E-BCF5-416F-8A37-2B82DAA4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590550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Five algorithm entries are explained</a:t>
            </a:r>
          </a:p>
        </p:txBody>
      </p:sp>
      <p:sp>
        <p:nvSpPr>
          <p:cNvPr id="16" name="bridge-arrow-1">
            <a:extLst xmlns:a="http://schemas.openxmlformats.org/drawingml/2006/main">
              <a:ext uri="{FF2B5EF4-FFF2-40B4-BE49-F238E27FC236}">
                <a16:creationId xmlns:a16="http://schemas.microsoft.com/office/drawing/2014/main" id="{69B16A07-0490-4410-94A6-C5AB5677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15000"/>
            <a:ext cx="857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7" name="bridge-arrow-2">
            <a:extLst xmlns:a="http://schemas.openxmlformats.org/drawingml/2006/main">
              <a:ext uri="{FF2B5EF4-FFF2-40B4-BE49-F238E27FC236}">
                <a16:creationId xmlns:a16="http://schemas.microsoft.com/office/drawing/2014/main" id="{64AD1E48-609A-49FB-965D-47478132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715000"/>
            <a:ext cx="857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8" name="bridge-limit">
            <a:extLst xmlns:a="http://schemas.openxmlformats.org/drawingml/2006/main">
              <a:ext uri="{FF2B5EF4-FFF2-40B4-BE49-F238E27FC236}">
                <a16:creationId xmlns:a16="http://schemas.microsoft.com/office/drawing/2014/main" id="{DC85ACA1-16C5-4D39-B138-853DC79C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667625"/>
            <a:ext cx="1466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The result is educational feedback. It does not prove that a password is secure.</a:t>
            </a:r>
          </a:p>
        </p:txBody>
      </p:sp>
    </p:spTree>
    <p:extLst>
      <p:ext uri="{BB962C8B-B14F-4D97-AF65-F5344CB8AC3E}">
        <p14:creationId xmlns:p14="http://schemas.microsoft.com/office/powerpoint/2010/main" val="315171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B9EE01A-BE46-4852-B7C2-1514697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59487d9c1f44d2">
              <a:extLst>
                <a:ext uri="{96DAC541-7B7A-43D3-8B79-37D633B846F1}">
                  <asvg:svgBlip xmlns:asvg="http://schemas.microsoft.com/office/drawing/2016/SVG/main" r:embed="R216ec586c69a4c2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15B3BE7-A488-4194-939F-C6FB55D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59487d9c1f44d2">
              <a:extLst>
                <a:ext uri="{96DAC541-7B7A-43D3-8B79-37D633B846F1}">
                  <asvg:svgBlip xmlns:asvg="http://schemas.microsoft.com/office/drawing/2016/SVG/main" r:embed="R216ec586c69a4c2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F844981-8B87-49CD-9988-9F40721A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2614cacc83241bc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A0793-23EC-4520-94F2-2697BC55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Project Objectives</a:t>
            </a:r>
          </a:p>
        </p:txBody>
      </p:sp>
      <p:sp>
        <p:nvSpPr>
          <p:cNvPr id="6" name="step-01">
            <a:extLst xmlns:a="http://schemas.openxmlformats.org/drawingml/2006/main">
              <a:ext uri="{FF2B5EF4-FFF2-40B4-BE49-F238E27FC236}">
                <a16:creationId xmlns:a16="http://schemas.microsoft.com/office/drawing/2014/main" id="{C11A7578-C591-4A8A-9C87-61393E4E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01</a:t>
            </a:r>
          </a:p>
        </p:txBody>
      </p:sp>
      <p:sp>
        <p:nvSpPr>
          <p:cNvPr id="7" name="objective-1">
            <a:extLst xmlns:a="http://schemas.openxmlformats.org/drawingml/2006/main">
              <a:ext uri="{FF2B5EF4-FFF2-40B4-BE49-F238E27FC236}">
                <a16:creationId xmlns:a16="http://schemas.microsoft.com/office/drawing/2014/main" id="{E91E4452-0485-4653-85EA-047DB944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Analyze password characteristics locally with heuristics.</a:t>
            </a:r>
          </a:p>
        </p:txBody>
      </p:sp>
      <p:sp>
        <p:nvSpPr>
          <p:cNvPr id="8" name="step-02">
            <a:extLst xmlns:a="http://schemas.openxmlformats.org/drawingml/2006/main">
              <a:ext uri="{FF2B5EF4-FFF2-40B4-BE49-F238E27FC236}">
                <a16:creationId xmlns:a16="http://schemas.microsoft.com/office/drawing/2014/main" id="{AB9EB712-3FAE-4F3E-9ADB-CCFE9CD5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76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02</a:t>
            </a:r>
          </a:p>
        </p:txBody>
      </p:sp>
      <p:sp>
        <p:nvSpPr>
          <p:cNvPr id="9" name="objective-2">
            <a:extLst xmlns:a="http://schemas.openxmlformats.org/drawingml/2006/main">
              <a:ext uri="{FF2B5EF4-FFF2-40B4-BE49-F238E27FC236}">
                <a16:creationId xmlns:a16="http://schemas.microsoft.com/office/drawing/2014/main" id="{0CCAE2C1-7AEB-46D3-9191-6DCF034F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0002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Explain Argon2id, bcrypt, scrypt, PBKDF2 and SHA-3.</a:t>
            </a:r>
          </a:p>
        </p:txBody>
      </p:sp>
      <p:sp>
        <p:nvSpPr>
          <p:cNvPr id="10" name="step-03">
            <a:extLst xmlns:a="http://schemas.openxmlformats.org/drawingml/2006/main">
              <a:ext uri="{FF2B5EF4-FFF2-40B4-BE49-F238E27FC236}">
                <a16:creationId xmlns:a16="http://schemas.microsoft.com/office/drawing/2014/main" id="{D0FFF4E8-5244-4027-94B2-96552BE6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03</a:t>
            </a:r>
          </a:p>
        </p:txBody>
      </p:sp>
      <p:sp>
        <p:nvSpPr>
          <p:cNvPr id="11" name="objective-3">
            <a:extLst xmlns:a="http://schemas.openxmlformats.org/drawingml/2006/main">
              <a:ext uri="{FF2B5EF4-FFF2-40B4-BE49-F238E27FC236}">
                <a16:creationId xmlns:a16="http://schemas.microsoft.com/office/drawing/2014/main" id="{7173C828-8724-491D-9161-D58B723E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957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Show educational crack-time estimates when model inputs are supported.</a:t>
            </a:r>
          </a:p>
        </p:txBody>
      </p:sp>
      <p:sp>
        <p:nvSpPr>
          <p:cNvPr id="12" name="step-04">
            <a:extLst xmlns:a="http://schemas.openxmlformats.org/drawingml/2006/main">
              <a:ext uri="{FF2B5EF4-FFF2-40B4-BE49-F238E27FC236}">
                <a16:creationId xmlns:a16="http://schemas.microsoft.com/office/drawing/2014/main" id="{F8C2EB29-4C55-4303-80B2-DB1C9E98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71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04</a:t>
            </a:r>
          </a:p>
        </p:txBody>
      </p:sp>
      <p:sp>
        <p:nvSpPr>
          <p:cNvPr id="13" name="objective-4">
            <a:extLst xmlns:a="http://schemas.openxmlformats.org/drawingml/2006/main">
              <a:ext uri="{FF2B5EF4-FFF2-40B4-BE49-F238E27FC236}">
                <a16:creationId xmlns:a16="http://schemas.microsoft.com/office/drawing/2014/main" id="{B0CF5319-69EB-4F11-9C5B-229BF760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957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Demonstrate a separate synthetic candidate-index simulation.</a:t>
            </a:r>
          </a:p>
        </p:txBody>
      </p:sp>
      <p:sp>
        <p:nvSpPr>
          <p:cNvPr id="14" name="step-05">
            <a:extLst xmlns:a="http://schemas.openxmlformats.org/drawingml/2006/main">
              <a:ext uri="{FF2B5EF4-FFF2-40B4-BE49-F238E27FC236}">
                <a16:creationId xmlns:a16="http://schemas.microsoft.com/office/drawing/2014/main" id="{B0656FA1-22F5-4496-A0BC-EF784A1C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67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05</a:t>
            </a:r>
          </a:p>
        </p:txBody>
      </p:sp>
      <p:sp>
        <p:nvSpPr>
          <p:cNvPr id="15" name="objective-5">
            <a:extLst xmlns:a="http://schemas.openxmlformats.org/drawingml/2006/main">
              <a:ext uri="{FF2B5EF4-FFF2-40B4-BE49-F238E27FC236}">
                <a16:creationId xmlns:a16="http://schemas.microsoft.com/office/drawing/2014/main" id="{156BC033-FE79-4096-973E-532B10BC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912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Explain estimate assumptions and benchmark limits.</a:t>
            </a:r>
          </a:p>
        </p:txBody>
      </p:sp>
      <p:sp>
        <p:nvSpPr>
          <p:cNvPr id="16" name="objectives-note">
            <a:extLst xmlns:a="http://schemas.openxmlformats.org/drawingml/2006/main">
              <a:ext uri="{FF2B5EF4-FFF2-40B4-BE49-F238E27FC236}">
                <a16:creationId xmlns:a16="http://schemas.microsoft.com/office/drawing/2014/main" id="{B86AF2AA-C513-4C0C-BB16-F4884599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239125"/>
            <a:ext cx="1562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Scope: education, transparent assumptions and clear separation between application components.</a:t>
            </a:r>
          </a:p>
        </p:txBody>
      </p:sp>
    </p:spTree>
    <p:extLst>
      <p:ext uri="{BB962C8B-B14F-4D97-AF65-F5344CB8AC3E}">
        <p14:creationId xmlns:p14="http://schemas.microsoft.com/office/powerpoint/2010/main" val="31517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B9EE01A-BE46-4852-B7C2-1514697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d57120af1e041a3">
              <a:extLst>
                <a:ext uri="{96DAC541-7B7A-43D3-8B79-37D633B846F1}">
                  <asvg:svgBlip xmlns:asvg="http://schemas.microsoft.com/office/drawing/2016/SVG/main" r:embed="R1b6248ce40a4490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15B3BE7-A488-4194-939F-C6FB55D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d57120af1e041a3">
              <a:extLst>
                <a:ext uri="{96DAC541-7B7A-43D3-8B79-37D633B846F1}">
                  <asvg:svgBlip xmlns:asvg="http://schemas.microsoft.com/office/drawing/2016/SVG/main" r:embed="R1b6248ce40a4490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F844981-8B87-49CD-9988-9F40721A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a5d5e308274014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5D78C5-BF1E-4124-AA37-57933110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Technology Stack and System Architecture</a:t>
            </a:r>
          </a:p>
        </p:txBody>
      </p:sp>
      <p:sp>
        <p:nvSpPr>
          <p:cNvPr id="6" name="stack-line">
            <a:extLst xmlns:a="http://schemas.openxmlformats.org/drawingml/2006/main">
              <a:ext uri="{FF2B5EF4-FFF2-40B4-BE49-F238E27FC236}">
                <a16:creationId xmlns:a16="http://schemas.microsoft.com/office/drawing/2014/main" id="{3F6E8222-F653-48B3-9952-229A60B1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1543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Java 21, JavaFX 21.0.6, Maven 3.10.0 and JUnit 5.11.4</a:t>
            </a:r>
          </a:p>
        </p:txBody>
      </p:sp>
      <p:sp>
        <p:nvSpPr>
          <p:cNvPr id="7" name="architecture-1">
            <a:extLst xmlns:a="http://schemas.openxmlformats.org/drawingml/2006/main">
              <a:ext uri="{FF2B5EF4-FFF2-40B4-BE49-F238E27FC236}">
                <a16:creationId xmlns:a16="http://schemas.microsoft.com/office/drawing/2014/main" id="{13CA7AEE-2A2A-47AB-B4A3-C961E12D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667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8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505B8D3B-62E3-498F-832F-2ABB1BFC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324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PASSWORD_ENTRY</a:t>
            </a:r>
          </a:p>
        </p:txBody>
      </p:sp>
      <p:sp>
        <p:nvSpPr>
          <p:cNvPr id="9" name="architecture-detail-1">
            <a:extLst xmlns:a="http://schemas.openxmlformats.org/drawingml/2006/main">
              <a:ext uri="{FF2B5EF4-FFF2-40B4-BE49-F238E27FC236}">
                <a16:creationId xmlns:a16="http://schemas.microsoft.com/office/drawing/2014/main" id="{6DFD8452-D580-4D43-B5EE-13BEA4A0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3209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JavaFX input</a:t>
            </a:r>
          </a:p>
        </p:txBody>
      </p:sp>
      <p:sp>
        <p:nvSpPr>
          <p:cNvPr id="10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56C02139-5BD4-467F-9A18-1A170531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05275"/>
            <a:ext cx="533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1" name="architecture-2">
            <a:extLst xmlns:a="http://schemas.openxmlformats.org/drawingml/2006/main">
              <a:ext uri="{FF2B5EF4-FFF2-40B4-BE49-F238E27FC236}">
                <a16:creationId xmlns:a16="http://schemas.microsoft.com/office/drawing/2014/main" id="{90B265A8-F998-468C-859E-8544EC97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29000"/>
            <a:ext cx="3667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2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B8F7E098-250E-4B07-9363-D7222EF3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14750"/>
            <a:ext cx="3324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Local PasswordAnalysis</a:t>
            </a:r>
          </a:p>
        </p:txBody>
      </p:sp>
      <p:sp>
        <p:nvSpPr>
          <p:cNvPr id="13" name="architecture-detail-2">
            <a:extLst xmlns:a="http://schemas.openxmlformats.org/drawingml/2006/main">
              <a:ext uri="{FF2B5EF4-FFF2-40B4-BE49-F238E27FC236}">
                <a16:creationId xmlns:a16="http://schemas.microsoft.com/office/drawing/2014/main" id="{432FAE95-C441-4A6C-84F6-6AB998DE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333875"/>
            <a:ext cx="3209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Character heuristic</a:t>
            </a:r>
          </a:p>
        </p:txBody>
      </p:sp>
      <p:sp>
        <p:nvSpPr>
          <p:cNvPr id="14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F93C31FD-DC72-476C-ABDB-AE01772E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105275"/>
            <a:ext cx="533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5" name="architecture-3">
            <a:extLst xmlns:a="http://schemas.openxmlformats.org/drawingml/2006/main">
              <a:ext uri="{FF2B5EF4-FFF2-40B4-BE49-F238E27FC236}">
                <a16:creationId xmlns:a16="http://schemas.microsoft.com/office/drawing/2014/main" id="{3ED6B5CF-7E3B-443C-A5D5-28A1B954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3667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6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5222862A-FA39-4DB9-A736-56BE2544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14750"/>
            <a:ext cx="3324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PROCESSING</a:t>
            </a:r>
          </a:p>
        </p:txBody>
      </p:sp>
      <p:sp>
        <p:nvSpPr>
          <p:cNvPr id="17" name="architecture-detail-3">
            <a:extLst xmlns:a="http://schemas.openxmlformats.org/drawingml/2006/main">
              <a:ext uri="{FF2B5EF4-FFF2-40B4-BE49-F238E27FC236}">
                <a16:creationId xmlns:a16="http://schemas.microsoft.com/office/drawing/2014/main" id="{D2AF4E45-D2D1-4DBF-9D53-1A809145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33875"/>
            <a:ext cx="3209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Synthetic index simulation</a:t>
            </a:r>
          </a:p>
        </p:txBody>
      </p:sp>
      <p:sp>
        <p:nvSpPr>
          <p:cNvPr id="18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0940F859-AA84-4B98-B5E4-D455F1B8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4105275"/>
            <a:ext cx="533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9" name="architecture-4">
            <a:extLst xmlns:a="http://schemas.openxmlformats.org/drawingml/2006/main">
              <a:ext uri="{FF2B5EF4-FFF2-40B4-BE49-F238E27FC236}">
                <a16:creationId xmlns:a16="http://schemas.microsoft.com/office/drawing/2014/main" id="{CFC1DDCC-2648-41A2-B4DC-62403E5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3429000"/>
            <a:ext cx="3667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0" name="architecture-title-4">
            <a:extLst xmlns:a="http://schemas.openxmlformats.org/drawingml/2006/main">
              <a:ext uri="{FF2B5EF4-FFF2-40B4-BE49-F238E27FC236}">
                <a16:creationId xmlns:a16="http://schemas.microsoft.com/office/drawing/2014/main" id="{957B6CD0-1D9D-4B7E-8A07-54B6073A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3714750"/>
            <a:ext cx="3324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FINAL_RESULT</a:t>
            </a:r>
          </a:p>
        </p:txBody>
      </p:sp>
      <p:sp>
        <p:nvSpPr>
          <p:cNvPr id="21" name="architecture-detail-4">
            <a:extLst xmlns:a="http://schemas.openxmlformats.org/drawingml/2006/main">
              <a:ext uri="{FF2B5EF4-FFF2-40B4-BE49-F238E27FC236}">
                <a16:creationId xmlns:a16="http://schemas.microsoft.com/office/drawing/2014/main" id="{536807E5-C936-4686-A09A-0307E23F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4333875"/>
            <a:ext cx="3209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Analysis and guidance</a:t>
            </a:r>
          </a:p>
        </p:txBody>
      </p:sp>
      <p:sp>
        <p:nvSpPr>
          <p:cNvPr id="22" name="result-lanes-title">
            <a:extLst xmlns:a="http://schemas.openxmlformats.org/drawingml/2006/main">
              <a:ext uri="{FF2B5EF4-FFF2-40B4-BE49-F238E27FC236}">
                <a16:creationId xmlns:a16="http://schemas.microsoft.com/office/drawing/2014/main" id="{B9DBD4F1-C9F9-45C2-95C2-503ACAD1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10250"/>
            <a:ext cx="1428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FINAL_RESULT contains</a:t>
            </a:r>
          </a:p>
        </p:txBody>
      </p:sp>
      <p:sp>
        <p:nvSpPr>
          <p:cNvPr id="23" name="strength-lane">
            <a:extLst xmlns:a="http://schemas.openxmlformats.org/drawingml/2006/main">
              <a:ext uri="{FF2B5EF4-FFF2-40B4-BE49-F238E27FC236}">
                <a16:creationId xmlns:a16="http://schemas.microsoft.com/office/drawing/2014/main" id="{E0089FFC-B91C-46DA-8F7C-D946F1F1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572250"/>
            <a:ext cx="561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4" name="strength-lane-text">
            <a:extLst xmlns:a="http://schemas.openxmlformats.org/drawingml/2006/main">
              <a:ext uri="{FF2B5EF4-FFF2-40B4-BE49-F238E27FC236}">
                <a16:creationId xmlns:a16="http://schemas.microsoft.com/office/drawing/2014/main" id="{62D6BC74-5967-46BF-8D8A-77AA7070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810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 Strength Analysis</a:t>
            </a:r>
          </a:p>
        </p:txBody>
      </p:sp>
      <p:sp>
        <p:nvSpPr>
          <p:cNvPr id="25" name="algorithm-lane">
            <a:extLst xmlns:a="http://schemas.openxmlformats.org/drawingml/2006/main">
              <a:ext uri="{FF2B5EF4-FFF2-40B4-BE49-F238E27FC236}">
                <a16:creationId xmlns:a16="http://schemas.microsoft.com/office/drawing/2014/main" id="{07F02E8A-B36A-4148-BB0A-C6343861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572250"/>
            <a:ext cx="561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6" name="algorithm-lane-text">
            <a:extLst xmlns:a="http://schemas.openxmlformats.org/drawingml/2006/main">
              <a:ext uri="{FF2B5EF4-FFF2-40B4-BE49-F238E27FC236}">
                <a16:creationId xmlns:a16="http://schemas.microsoft.com/office/drawing/2014/main" id="{461535C4-3E30-404E-A843-5C4F88F5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810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Hashing Algorithm Analysis</a:t>
            </a:r>
          </a:p>
        </p:txBody>
      </p:sp>
      <p:sp>
        <p:nvSpPr>
          <p:cNvPr id="27" name="estimator-separation">
            <a:extLst xmlns:a="http://schemas.openxmlformats.org/drawingml/2006/main">
              <a:ext uri="{FF2B5EF4-FFF2-40B4-BE49-F238E27FC236}">
                <a16:creationId xmlns:a16="http://schemas.microsoft.com/office/drawing/2014/main" id="{0D34B0B2-9EE2-433C-B7CD-35FF6D16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191500"/>
            <a:ext cx="1543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The educational crack-time estimator uses heuristic inputs and project-defined rates. Simulation throughput does not feed the estimator.</a:t>
            </a:r>
          </a:p>
        </p:txBody>
      </p:sp>
    </p:spTree>
    <p:extLst>
      <p:ext uri="{BB962C8B-B14F-4D97-AF65-F5344CB8AC3E}">
        <p14:creationId xmlns:p14="http://schemas.microsoft.com/office/powerpoint/2010/main" val="315171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B9EE01A-BE46-4852-B7C2-1514697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f063dc4b65f4313">
              <a:extLst>
                <a:ext uri="{96DAC541-7B7A-43D3-8B79-37D633B846F1}">
                  <asvg:svgBlip xmlns:asvg="http://schemas.microsoft.com/office/drawing/2016/SVG/main" r:embed="R194a7d31928d41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15B3BE7-A488-4194-939F-C6FB55D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f063dc4b65f4313">
              <a:extLst>
                <a:ext uri="{96DAC541-7B7A-43D3-8B79-37D633B846F1}">
                  <asvg:svgBlip xmlns:asvg="http://schemas.microsoft.com/office/drawing/2016/SVG/main" r:embed="R194a7d31928d41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F844981-8B87-49CD-9988-9F40721A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d03c0ae8aaa418e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989842-60EC-4D48-893D-633DB620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Three-State Workflow</a:t>
            </a:r>
          </a:p>
        </p:txBody>
      </p:sp>
      <p:sp>
        <p:nvSpPr>
          <p:cNvPr id="6" name="state-1">
            <a:extLst xmlns:a="http://schemas.openxmlformats.org/drawingml/2006/main">
              <a:ext uri="{FF2B5EF4-FFF2-40B4-BE49-F238E27FC236}">
                <a16:creationId xmlns:a16="http://schemas.microsoft.com/office/drawing/2014/main" id="{34120573-53AF-4028-92B9-9E5803EC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81375"/>
            <a:ext cx="3810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7E5CC9CB-734F-442F-AE1C-A532A4DF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14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1</a:t>
            </a:r>
          </a:p>
        </p:txBody>
      </p:sp>
      <p:sp>
        <p:nvSpPr>
          <p:cNvPr id="8" name="state-name-1">
            <a:extLst xmlns:a="http://schemas.openxmlformats.org/drawingml/2006/main">
              <a:ext uri="{FF2B5EF4-FFF2-40B4-BE49-F238E27FC236}">
                <a16:creationId xmlns:a16="http://schemas.microsoft.com/office/drawing/2014/main" id="{F14F3EE7-2F38-4A11-9562-FF118399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720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PASSWORD_ENTRY</a:t>
            </a:r>
          </a:p>
        </p:txBody>
      </p:sp>
      <p:sp>
        <p:nvSpPr>
          <p:cNvPr id="9" name="state-detail-1">
            <a:extLst xmlns:a="http://schemas.openxmlformats.org/drawingml/2006/main">
              <a:ext uri="{FF2B5EF4-FFF2-40B4-BE49-F238E27FC236}">
                <a16:creationId xmlns:a16="http://schemas.microsoft.com/office/drawing/2014/main" id="{7790D0E5-015C-4418-AB34-4370B417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The user submits a password for local heuristic analysis.</a:t>
            </a:r>
          </a:p>
        </p:txBody>
      </p:sp>
      <p:sp>
        <p:nvSpPr>
          <p:cNvPr id="10" name="state-2">
            <a:extLst xmlns:a="http://schemas.openxmlformats.org/drawingml/2006/main">
              <a:ext uri="{FF2B5EF4-FFF2-40B4-BE49-F238E27FC236}">
                <a16:creationId xmlns:a16="http://schemas.microsoft.com/office/drawing/2014/main" id="{47830B4E-87DD-4889-B812-7A7BA122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3810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EF71FC13-E4E8-49D3-AB21-355A0016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2</a:t>
            </a:r>
          </a:p>
        </p:txBody>
      </p:sp>
      <p:sp>
        <p:nvSpPr>
          <p:cNvPr id="12" name="state-name-2">
            <a:extLst xmlns:a="http://schemas.openxmlformats.org/drawingml/2006/main">
              <a:ext uri="{FF2B5EF4-FFF2-40B4-BE49-F238E27FC236}">
                <a16:creationId xmlns:a16="http://schemas.microsoft.com/office/drawing/2014/main" id="{4132F1EB-F0B2-40A1-815F-70CA724E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720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PROCESSING</a:t>
            </a:r>
          </a:p>
        </p:txBody>
      </p:sp>
      <p:sp>
        <p:nvSpPr>
          <p:cNvPr id="13" name="state-detail-2">
            <a:extLst xmlns:a="http://schemas.openxmlformats.org/drawingml/2006/main">
              <a:ext uri="{FF2B5EF4-FFF2-40B4-BE49-F238E27FC236}">
                <a16:creationId xmlns:a16="http://schemas.microsoft.com/office/drawing/2014/main" id="{686C825F-EE7C-4DC1-A523-5DD542C9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3875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 separate synthetic candidate-index simulation runs with logical simulation agents.</a:t>
            </a:r>
          </a:p>
        </p:txBody>
      </p:sp>
      <p:sp>
        <p:nvSpPr>
          <p:cNvPr id="14" name="state-3">
            <a:extLst xmlns:a="http://schemas.openxmlformats.org/drawingml/2006/main">
              <a:ext uri="{FF2B5EF4-FFF2-40B4-BE49-F238E27FC236}">
                <a16:creationId xmlns:a16="http://schemas.microsoft.com/office/drawing/2014/main" id="{1FF79A53-453D-461E-8054-203634BD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381375"/>
            <a:ext cx="3810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5" name="step-3">
            <a:extLst xmlns:a="http://schemas.openxmlformats.org/drawingml/2006/main">
              <a:ext uri="{FF2B5EF4-FFF2-40B4-BE49-F238E27FC236}">
                <a16:creationId xmlns:a16="http://schemas.microsoft.com/office/drawing/2014/main" id="{06CC382E-DF31-499C-A333-17A0D465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3714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3</a:t>
            </a:r>
          </a:p>
        </p:txBody>
      </p:sp>
      <p:sp>
        <p:nvSpPr>
          <p:cNvPr id="16" name="state-name-3">
            <a:extLst xmlns:a="http://schemas.openxmlformats.org/drawingml/2006/main">
              <a:ext uri="{FF2B5EF4-FFF2-40B4-BE49-F238E27FC236}">
                <a16:creationId xmlns:a16="http://schemas.microsoft.com/office/drawing/2014/main" id="{4A7A0E20-13B7-4440-9A3F-6FCD3FC5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45720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FINAL_RESULT</a:t>
            </a:r>
          </a:p>
        </p:txBody>
      </p:sp>
      <p:sp>
        <p:nvSpPr>
          <p:cNvPr id="17" name="state-detail-3">
            <a:extLst xmlns:a="http://schemas.openxmlformats.org/drawingml/2006/main">
              <a:ext uri="{FF2B5EF4-FFF2-40B4-BE49-F238E27FC236}">
                <a16:creationId xmlns:a16="http://schemas.microsoft.com/office/drawing/2014/main" id="{10199EF5-82BC-4647-A351-11879963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523875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Heuristic analysis and five algorithm cards show estimates or clear statuses.</a:t>
            </a:r>
          </a:p>
        </p:txBody>
      </p:sp>
      <p:sp>
        <p:nvSpPr>
          <p:cNvPr id="18" name="state-arrow-1">
            <a:extLst xmlns:a="http://schemas.openxmlformats.org/drawingml/2006/main">
              <a:ext uri="{FF2B5EF4-FFF2-40B4-BE49-F238E27FC236}">
                <a16:creationId xmlns:a16="http://schemas.microsoft.com/office/drawing/2014/main" id="{9359A0E4-D16B-484F-A000-94AFA4E4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10125"/>
            <a:ext cx="1285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9" name="state-arrow-2">
            <a:extLst xmlns:a="http://schemas.openxmlformats.org/drawingml/2006/main">
              <a:ext uri="{FF2B5EF4-FFF2-40B4-BE49-F238E27FC236}">
                <a16:creationId xmlns:a16="http://schemas.microsoft.com/office/drawing/2014/main" id="{102E4AE5-1ADE-43C0-918F-C3AE892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810125"/>
            <a:ext cx="1285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20" name="state-boundary">
            <a:extLst xmlns:a="http://schemas.openxmlformats.org/drawingml/2006/main">
              <a:ext uri="{FF2B5EF4-FFF2-40B4-BE49-F238E27FC236}">
                <a16:creationId xmlns:a16="http://schemas.microsoft.com/office/drawing/2014/main" id="{50083DEB-F8DE-4528-A2D8-427CC609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620000"/>
            <a:ext cx="1504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The simulation uses synthetic indexes. It does not hash or crack the submitted password.</a:t>
            </a:r>
          </a:p>
        </p:txBody>
      </p:sp>
    </p:spTree>
    <p:extLst>
      <p:ext uri="{BB962C8B-B14F-4D97-AF65-F5344CB8AC3E}">
        <p14:creationId xmlns:p14="http://schemas.microsoft.com/office/powerpoint/2010/main" val="315171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B9EE01A-BE46-4852-B7C2-1514697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7946b57e554ba8">
              <a:extLst>
                <a:ext uri="{96DAC541-7B7A-43D3-8B79-37D633B846F1}">
                  <asvg:svgBlip xmlns:asvg="http://schemas.microsoft.com/office/drawing/2016/SVG/main" r:embed="R1e5bec6593354c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15B3BE7-A488-4194-939F-C6FB55D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7946b57e554ba8">
              <a:extLst>
                <a:ext uri="{96DAC541-7B7A-43D3-8B79-37D633B846F1}">
                  <asvg:svgBlip xmlns:asvg="http://schemas.microsoft.com/office/drawing/2016/SVG/main" r:embed="R1e5bec6593354c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F844981-8B87-49CD-9988-9F40721A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cb427248a0c4d3c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B9613D-78EA-48D3-81E9-CA013227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Password Strength Analysis</a:t>
            </a:r>
          </a:p>
        </p:txBody>
      </p:sp>
      <p:sp>
        <p:nvSpPr>
          <p:cNvPr id="6" name="heuristic-intro">
            <a:extLst xmlns:a="http://schemas.openxmlformats.org/drawingml/2006/main">
              <a:ext uri="{FF2B5EF4-FFF2-40B4-BE49-F238E27FC236}">
                <a16:creationId xmlns:a16="http://schemas.microsoft.com/office/drawing/2014/main" id="{B5CA426A-7387-425A-8F06-945AE968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1600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The local heuristic considers length and character classes to produce a strength assessment and recommendations.</a:t>
            </a:r>
          </a:p>
        </p:txBody>
      </p:sp>
      <p:sp>
        <p:nvSpPr>
          <p:cNvPr id="7" name="feature-index-1">
            <a:extLst xmlns:a="http://schemas.openxmlformats.org/drawingml/2006/main">
              <a:ext uri="{FF2B5EF4-FFF2-40B4-BE49-F238E27FC236}">
                <a16:creationId xmlns:a16="http://schemas.microsoft.com/office/drawing/2014/main" id="{269AEE51-6CBB-4663-80C7-441E4310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01</a:t>
            </a:r>
          </a:p>
        </p:txBody>
      </p:sp>
      <p:sp>
        <p:nvSpPr>
          <p:cNvPr id="8" name="feature-name-1">
            <a:extLst xmlns:a="http://schemas.openxmlformats.org/drawingml/2006/main">
              <a:ext uri="{FF2B5EF4-FFF2-40B4-BE49-F238E27FC236}">
                <a16:creationId xmlns:a16="http://schemas.microsoft.com/office/drawing/2014/main" id="{CED58C1B-DCF8-4848-A70B-3F7DF98C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33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Length</a:t>
            </a:r>
          </a:p>
        </p:txBody>
      </p:sp>
      <p:sp>
        <p:nvSpPr>
          <p:cNvPr id="9" name="feature-description-1">
            <a:extLst xmlns:a="http://schemas.openxmlformats.org/drawingml/2006/main">
              <a:ext uri="{FF2B5EF4-FFF2-40B4-BE49-F238E27FC236}">
                <a16:creationId xmlns:a16="http://schemas.microsoft.com/office/drawing/2014/main" id="{5C415FCE-5447-4322-93E8-BE01B46B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24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Number of characters</a:t>
            </a:r>
          </a:p>
        </p:txBody>
      </p:sp>
      <p:sp>
        <p:nvSpPr>
          <p:cNvPr id="10" name="feature-index-2">
            <a:extLst xmlns:a="http://schemas.openxmlformats.org/drawingml/2006/main">
              <a:ext uri="{FF2B5EF4-FFF2-40B4-BE49-F238E27FC236}">
                <a16:creationId xmlns:a16="http://schemas.microsoft.com/office/drawing/2014/main" id="{B5A1493E-7DE0-449E-A203-5DFE441F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02</a:t>
            </a:r>
          </a:p>
        </p:txBody>
      </p:sp>
      <p:sp>
        <p:nvSpPr>
          <p:cNvPr id="11" name="feature-name-2">
            <a:extLst xmlns:a="http://schemas.openxmlformats.org/drawingml/2006/main">
              <a:ext uri="{FF2B5EF4-FFF2-40B4-BE49-F238E27FC236}">
                <a16:creationId xmlns:a16="http://schemas.microsoft.com/office/drawing/2014/main" id="{3164A74E-D630-4282-81BC-9E154E74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33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Lowercase and uppercase</a:t>
            </a:r>
          </a:p>
        </p:txBody>
      </p:sp>
      <p:sp>
        <p:nvSpPr>
          <p:cNvPr id="12" name="feature-description-2">
            <a:extLst xmlns:a="http://schemas.openxmlformats.org/drawingml/2006/main">
              <a:ext uri="{FF2B5EF4-FFF2-40B4-BE49-F238E27FC236}">
                <a16:creationId xmlns:a16="http://schemas.microsoft.com/office/drawing/2014/main" id="{8A13C5CD-A702-4630-B7B3-C4FF3D02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Presence of letter classes</a:t>
            </a:r>
          </a:p>
        </p:txBody>
      </p:sp>
      <p:sp>
        <p:nvSpPr>
          <p:cNvPr id="13" name="feature-index-3">
            <a:extLst xmlns:a="http://schemas.openxmlformats.org/drawingml/2006/main">
              <a:ext uri="{FF2B5EF4-FFF2-40B4-BE49-F238E27FC236}">
                <a16:creationId xmlns:a16="http://schemas.microsoft.com/office/drawing/2014/main" id="{D6ECB088-15D9-49F9-873C-F81EB7A3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435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03</a:t>
            </a:r>
          </a:p>
        </p:txBody>
      </p:sp>
      <p:sp>
        <p:nvSpPr>
          <p:cNvPr id="14" name="feature-name-3">
            <a:extLst xmlns:a="http://schemas.openxmlformats.org/drawingml/2006/main">
              <a:ext uri="{FF2B5EF4-FFF2-40B4-BE49-F238E27FC236}">
                <a16:creationId xmlns:a16="http://schemas.microsoft.com/office/drawing/2014/main" id="{5BC8C8CC-C48C-406D-BCAB-F58D0529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43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Digits</a:t>
            </a:r>
          </a:p>
        </p:txBody>
      </p:sp>
      <p:sp>
        <p:nvSpPr>
          <p:cNvPr id="15" name="feature-description-3">
            <a:extLst xmlns:a="http://schemas.openxmlformats.org/drawingml/2006/main">
              <a:ext uri="{FF2B5EF4-FFF2-40B4-BE49-F238E27FC236}">
                <a16:creationId xmlns:a16="http://schemas.microsoft.com/office/drawing/2014/main" id="{F25A6281-0AF7-4C78-A9CE-6020F92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340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Presence of numeric characters</a:t>
            </a:r>
          </a:p>
        </p:txBody>
      </p:sp>
      <p:sp>
        <p:nvSpPr>
          <p:cNvPr id="16" name="feature-index-4">
            <a:extLst xmlns:a="http://schemas.openxmlformats.org/drawingml/2006/main">
              <a:ext uri="{FF2B5EF4-FFF2-40B4-BE49-F238E27FC236}">
                <a16:creationId xmlns:a16="http://schemas.microsoft.com/office/drawing/2014/main" id="{E698DB73-155D-498B-A75A-BA2D4A2E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04</a:t>
            </a:r>
          </a:p>
        </p:txBody>
      </p:sp>
      <p:sp>
        <p:nvSpPr>
          <p:cNvPr id="17" name="feature-name-4">
            <a:extLst xmlns:a="http://schemas.openxmlformats.org/drawingml/2006/main">
              <a:ext uri="{FF2B5EF4-FFF2-40B4-BE49-F238E27FC236}">
                <a16:creationId xmlns:a16="http://schemas.microsoft.com/office/drawing/2014/main" id="{6591B0FA-4ADF-4B98-8920-C49A6BDB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43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Symbols</a:t>
            </a:r>
          </a:p>
        </p:txBody>
      </p:sp>
      <p:sp>
        <p:nvSpPr>
          <p:cNvPr id="18" name="feature-description-4">
            <a:extLst xmlns:a="http://schemas.openxmlformats.org/drawingml/2006/main">
              <a:ext uri="{FF2B5EF4-FFF2-40B4-BE49-F238E27FC236}">
                <a16:creationId xmlns:a16="http://schemas.microsoft.com/office/drawing/2014/main" id="{84B615BB-E6A7-47F2-8BCC-94831EFB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340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Presence of non-alphanumeric characters</a:t>
            </a:r>
          </a:p>
        </p:txBody>
      </p:sp>
      <p:sp>
        <p:nvSpPr>
          <p:cNvPr id="19" name="heuristic-limit-box">
            <a:extLst xmlns:a="http://schemas.openxmlformats.org/drawingml/2006/main">
              <a:ext uri="{FF2B5EF4-FFF2-40B4-BE49-F238E27FC236}">
                <a16:creationId xmlns:a16="http://schemas.microsoft.com/office/drawing/2014/main" id="{CECCB573-767C-4150-AD18-3D49E2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477125"/>
            <a:ext cx="15621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0" name="heuristic-limit-label">
            <a:extLst xmlns:a="http://schemas.openxmlformats.org/drawingml/2006/main">
              <a:ext uri="{FF2B5EF4-FFF2-40B4-BE49-F238E27FC236}">
                <a16:creationId xmlns:a16="http://schemas.microsoft.com/office/drawing/2014/main" id="{5034A2BE-FDB9-4F1C-9329-0AE7594F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734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LIMITS</a:t>
            </a:r>
          </a:p>
        </p:txBody>
      </p:sp>
      <p:sp>
        <p:nvSpPr>
          <p:cNvPr id="21" name="heuristic-limit-copy">
            <a:extLst xmlns:a="http://schemas.openxmlformats.org/drawingml/2006/main">
              <a:ext uri="{FF2B5EF4-FFF2-40B4-BE49-F238E27FC236}">
                <a16:creationId xmlns:a16="http://schemas.microsoft.com/office/drawing/2014/main" id="{FA584843-E677-449B-A214-FE366E3E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639050"/>
            <a:ext cx="1304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Heuristic feedback is not true entropy. It does not check breached-password databases, password reuse or dictionary membership, and it cannot prove a password is secure.</a:t>
            </a:r>
          </a:p>
        </p:txBody>
      </p:sp>
    </p:spTree>
    <p:extLst>
      <p:ext uri="{BB962C8B-B14F-4D97-AF65-F5344CB8AC3E}">
        <p14:creationId xmlns:p14="http://schemas.microsoft.com/office/powerpoint/2010/main" val="315171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B9EE01A-BE46-4852-B7C2-1514697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c50b8dceda4396">
              <a:extLst>
                <a:ext uri="{96DAC541-7B7A-43D3-8B79-37D633B846F1}">
                  <asvg:svgBlip xmlns:asvg="http://schemas.microsoft.com/office/drawing/2016/SVG/main" r:embed="R2b3a875307f046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15B3BE7-A488-4194-939F-C6FB55D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c50b8dceda4396">
              <a:extLst>
                <a:ext uri="{96DAC541-7B7A-43D3-8B79-37D633B846F1}">
                  <asvg:svgBlip xmlns:asvg="http://schemas.microsoft.com/office/drawing/2016/SVG/main" r:embed="R2b3a875307f046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F844981-8B87-49CD-9988-9F40721A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44374946b114a8d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F2D464-AD24-4936-8A07-D004A447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Five Algorithm Entries and Educational Estimates</a:t>
            </a:r>
          </a:p>
        </p:txBody>
      </p:sp>
      <p:sp>
        <p:nvSpPr>
          <p:cNvPr id="6" name="estimate-intro">
            <a:extLst xmlns:a="http://schemas.openxmlformats.org/drawingml/2006/main">
              <a:ext uri="{FF2B5EF4-FFF2-40B4-BE49-F238E27FC236}">
                <a16:creationId xmlns:a16="http://schemas.microsoft.com/office/drawing/2014/main" id="{620EEFC2-C665-4B73-87CD-0C43B0B2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381125"/>
            <a:ext cx="1590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 simplified candidate-space model uses project-authored illustrative offline rates.</a:t>
            </a:r>
          </a:p>
        </p:txBody>
      </p:sp>
      <p:sp>
        <p:nvSpPr>
          <p:cNvPr id="7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34941047-43E2-4CC8-91E4-C6D0ABCB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ALGORITHM</a:t>
            </a:r>
          </a:p>
        </p:txBody>
      </p:sp>
      <p:sp>
        <p:nvSpPr>
          <p:cNvPr id="8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D8A66A02-F32F-40C9-B99F-DC20CB16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ROLE IN THE GUIDANCE</a:t>
            </a:r>
          </a:p>
        </p:txBody>
      </p:sp>
      <p:sp>
        <p:nvSpPr>
          <p:cNvPr id="9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93143A65-D091-43C7-8713-134F283C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23837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EDUCATIONAL MODEL INPUT</a:t>
            </a:r>
          </a:p>
        </p:txBody>
      </p:sp>
      <p:sp>
        <p:nvSpPr>
          <p:cNvPr id="10" name="algorithm-row-1">
            <a:extLst xmlns:a="http://schemas.openxmlformats.org/drawingml/2006/main">
              <a:ext uri="{FF2B5EF4-FFF2-40B4-BE49-F238E27FC236}">
                <a16:creationId xmlns:a16="http://schemas.microsoft.com/office/drawing/2014/main" id="{646E5465-0CD3-40F1-A2C2-AC280181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6954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algorithm-name-1">
            <a:extLst xmlns:a="http://schemas.openxmlformats.org/drawingml/2006/main">
              <a:ext uri="{FF2B5EF4-FFF2-40B4-BE49-F238E27FC236}">
                <a16:creationId xmlns:a16="http://schemas.microsoft.com/office/drawing/2014/main" id="{017B782D-9DB6-4DB0-B49F-351094F5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Argon2id</a:t>
            </a:r>
          </a:p>
        </p:txBody>
      </p:sp>
      <p:sp>
        <p:nvSpPr>
          <p:cNvPr id="12" name="algorithm-role-1">
            <a:extLst xmlns:a="http://schemas.openxmlformats.org/drawingml/2006/main">
              <a:ext uri="{FF2B5EF4-FFF2-40B4-BE49-F238E27FC236}">
                <a16:creationId xmlns:a16="http://schemas.microsoft.com/office/drawing/2014/main" id="{96D15988-1C5F-444A-8980-3FC1446B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7772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Memory-hard password hashing; a recommended educational starting point.</a:t>
            </a:r>
          </a:p>
        </p:txBody>
      </p:sp>
      <p:sp>
        <p:nvSpPr>
          <p:cNvPr id="13" name="algorithm-rate-1">
            <a:extLst xmlns:a="http://schemas.openxmlformats.org/drawingml/2006/main">
              <a:ext uri="{FF2B5EF4-FFF2-40B4-BE49-F238E27FC236}">
                <a16:creationId xmlns:a16="http://schemas.microsoft.com/office/drawing/2014/main" id="{E4121744-9CD7-4C84-875D-7AC5070C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924175"/>
            <a:ext cx="5057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v1.3 · 65,536 KiB · t=3 · p=1</a:t>
            </a:r>
          </a:p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10 guesses/second</a:t>
            </a:r>
          </a:p>
        </p:txBody>
      </p:sp>
      <p:sp>
        <p:nvSpPr>
          <p:cNvPr id="14" name="algorithm-row-2">
            <a:extLst xmlns:a="http://schemas.openxmlformats.org/drawingml/2006/main">
              <a:ext uri="{FF2B5EF4-FFF2-40B4-BE49-F238E27FC236}">
                <a16:creationId xmlns:a16="http://schemas.microsoft.com/office/drawing/2014/main" id="{FBB8CC5F-BB5A-4C35-B544-969BDAC3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6954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5" name="algorithm-name-2">
            <a:extLst xmlns:a="http://schemas.openxmlformats.org/drawingml/2006/main">
              <a:ext uri="{FF2B5EF4-FFF2-40B4-BE49-F238E27FC236}">
                <a16:creationId xmlns:a16="http://schemas.microsoft.com/office/drawing/2014/main" id="{9C6D2948-7638-4D6D-9A12-8E71C882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814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bcrypt</a:t>
            </a:r>
          </a:p>
        </p:txBody>
      </p:sp>
      <p:sp>
        <p:nvSpPr>
          <p:cNvPr id="16" name="algorithm-role-2">
            <a:extLst xmlns:a="http://schemas.openxmlformats.org/drawingml/2006/main">
              <a:ext uri="{FF2B5EF4-FFF2-40B4-BE49-F238E27FC236}">
                <a16:creationId xmlns:a16="http://schemas.microsoft.com/office/drawing/2014/main" id="{356C01A7-AA1A-4812-AE46-D351A142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7772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Adaptive password hashing.</a:t>
            </a:r>
          </a:p>
        </p:txBody>
      </p:sp>
      <p:sp>
        <p:nvSpPr>
          <p:cNvPr id="17" name="algorithm-rate-2">
            <a:extLst xmlns:a="http://schemas.openxmlformats.org/drawingml/2006/main">
              <a:ext uri="{FF2B5EF4-FFF2-40B4-BE49-F238E27FC236}">
                <a16:creationId xmlns:a16="http://schemas.microsoft.com/office/drawing/2014/main" id="{DF133590-FE3E-4855-978B-E5A31DBC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933825"/>
            <a:ext cx="5057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2b · cost 12</a:t>
            </a:r>
          </a:p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10 guesses/second</a:t>
            </a:r>
          </a:p>
        </p:txBody>
      </p:sp>
      <p:sp>
        <p:nvSpPr>
          <p:cNvPr id="18" name="algorithm-row-3">
            <a:extLst xmlns:a="http://schemas.openxmlformats.org/drawingml/2006/main">
              <a:ext uri="{FF2B5EF4-FFF2-40B4-BE49-F238E27FC236}">
                <a16:creationId xmlns:a16="http://schemas.microsoft.com/office/drawing/2014/main" id="{C08C3960-321F-425A-BAE8-00CF19A9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6954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9" name="algorithm-name-3">
            <a:extLst xmlns:a="http://schemas.openxmlformats.org/drawingml/2006/main">
              <a:ext uri="{FF2B5EF4-FFF2-40B4-BE49-F238E27FC236}">
                <a16:creationId xmlns:a16="http://schemas.microsoft.com/office/drawing/2014/main" id="{5365EEA0-0FC9-4963-957B-830931A5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911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scrypt</a:t>
            </a:r>
          </a:p>
        </p:txBody>
      </p:sp>
      <p:sp>
        <p:nvSpPr>
          <p:cNvPr id="20" name="algorithm-role-3">
            <a:extLst xmlns:a="http://schemas.openxmlformats.org/drawingml/2006/main">
              <a:ext uri="{FF2B5EF4-FFF2-40B4-BE49-F238E27FC236}">
                <a16:creationId xmlns:a16="http://schemas.microsoft.com/office/drawing/2014/main" id="{C688AB17-EF7C-4672-A98E-B0553A69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53000"/>
            <a:ext cx="7772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Memory-hard password-based key derivation.</a:t>
            </a:r>
          </a:p>
        </p:txBody>
      </p:sp>
      <p:sp>
        <p:nvSpPr>
          <p:cNvPr id="21" name="algorithm-rate-3">
            <a:extLst xmlns:a="http://schemas.openxmlformats.org/drawingml/2006/main">
              <a:ext uri="{FF2B5EF4-FFF2-40B4-BE49-F238E27FC236}">
                <a16:creationId xmlns:a16="http://schemas.microsoft.com/office/drawing/2014/main" id="{3C64B8BC-87E9-4FD1-AF78-352BB3AD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43475"/>
            <a:ext cx="5057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N=131,072 · r=8 · p=1</a:t>
            </a:r>
          </a:p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5 guesses/second</a:t>
            </a:r>
          </a:p>
        </p:txBody>
      </p:sp>
      <p:sp>
        <p:nvSpPr>
          <p:cNvPr id="22" name="algorithm-row-4">
            <a:extLst xmlns:a="http://schemas.openxmlformats.org/drawingml/2006/main">
              <a:ext uri="{FF2B5EF4-FFF2-40B4-BE49-F238E27FC236}">
                <a16:creationId xmlns:a16="http://schemas.microsoft.com/office/drawing/2014/main" id="{B1600464-70CE-45C1-843D-DBCFCF1A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16954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3" name="algorithm-name-4">
            <a:extLst xmlns:a="http://schemas.openxmlformats.org/drawingml/2006/main">
              <a:ext uri="{FF2B5EF4-FFF2-40B4-BE49-F238E27FC236}">
                <a16:creationId xmlns:a16="http://schemas.microsoft.com/office/drawing/2014/main" id="{98561F28-8CAA-4C48-8AF8-63B9BE72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PBKDF2</a:t>
            </a:r>
          </a:p>
        </p:txBody>
      </p:sp>
      <p:sp>
        <p:nvSpPr>
          <p:cNvPr id="24" name="algorithm-role-4">
            <a:extLst xmlns:a="http://schemas.openxmlformats.org/drawingml/2006/main">
              <a:ext uri="{FF2B5EF4-FFF2-40B4-BE49-F238E27FC236}">
                <a16:creationId xmlns:a16="http://schemas.microsoft.com/office/drawing/2014/main" id="{B412E5AF-BBB4-475F-8CCC-85453902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62650"/>
            <a:ext cx="7772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Password-based key derivation.</a:t>
            </a:r>
          </a:p>
        </p:txBody>
      </p:sp>
      <p:sp>
        <p:nvSpPr>
          <p:cNvPr id="25" name="algorithm-rate-4">
            <a:extLst xmlns:a="http://schemas.openxmlformats.org/drawingml/2006/main">
              <a:ext uri="{FF2B5EF4-FFF2-40B4-BE49-F238E27FC236}">
                <a16:creationId xmlns:a16="http://schemas.microsoft.com/office/drawing/2014/main" id="{23315098-0E14-42B8-AF2A-E3EF90AB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953125"/>
            <a:ext cx="5057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HMAC-SHA-256 · 600,000 iterations</a:t>
            </a:r>
          </a:p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50 guesses/second</a:t>
            </a:r>
          </a:p>
        </p:txBody>
      </p:sp>
      <p:sp>
        <p:nvSpPr>
          <p:cNvPr id="26" name="algorithm-row-5">
            <a:extLst xmlns:a="http://schemas.openxmlformats.org/drawingml/2006/main">
              <a:ext uri="{FF2B5EF4-FFF2-40B4-BE49-F238E27FC236}">
                <a16:creationId xmlns:a16="http://schemas.microsoft.com/office/drawing/2014/main" id="{83CE7B6D-7041-43A9-8082-C9445F62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96100"/>
            <a:ext cx="16954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7" name="algorithm-name-5">
            <a:extLst xmlns:a="http://schemas.openxmlformats.org/drawingml/2006/main">
              <a:ext uri="{FF2B5EF4-FFF2-40B4-BE49-F238E27FC236}">
                <a16:creationId xmlns:a16="http://schemas.microsoft.com/office/drawing/2014/main" id="{A0A0AA6B-4552-4C23-823A-B4202CF5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0104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SHA-3</a:t>
            </a:r>
          </a:p>
        </p:txBody>
      </p:sp>
      <p:sp>
        <p:nvSpPr>
          <p:cNvPr id="28" name="algorithm-role-5">
            <a:extLst xmlns:a="http://schemas.openxmlformats.org/drawingml/2006/main">
              <a:ext uri="{FF2B5EF4-FFF2-40B4-BE49-F238E27FC236}">
                <a16:creationId xmlns:a16="http://schemas.microsoft.com/office/drawing/2014/main" id="{C330B8E4-05F9-4692-B448-BCF39D16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972300"/>
            <a:ext cx="7772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No concrete password KDF is specified in this entry.</a:t>
            </a:r>
          </a:p>
        </p:txBody>
      </p:sp>
      <p:sp>
        <p:nvSpPr>
          <p:cNvPr id="29" name="algorithm-rate-5">
            <a:extLst xmlns:a="http://schemas.openxmlformats.org/drawingml/2006/main">
              <a:ext uri="{FF2B5EF4-FFF2-40B4-BE49-F238E27FC236}">
                <a16:creationId xmlns:a16="http://schemas.microsoft.com/office/drawing/2014/main" id="{FA22E17F-0D7A-4754-BAF9-507C3EF8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962775"/>
            <a:ext cx="5057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Not estimable</a:t>
            </a:r>
          </a:p>
        </p:txBody>
      </p:sp>
      <p:sp>
        <p:nvSpPr>
          <p:cNvPr id="30" name="estimate-disclaimer">
            <a:extLst xmlns:a="http://schemas.openxmlformats.org/drawingml/2006/main">
              <a:ext uri="{FF2B5EF4-FFF2-40B4-BE49-F238E27FC236}">
                <a16:creationId xmlns:a16="http://schemas.microsoft.com/office/drawing/2014/main" id="{6F07A85D-221A-4949-9F2C-0EF69565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91500"/>
            <a:ext cx="1638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The rates are hypothetical internal assumptions, not measured facts. Estimates are not real-world predictions or attacker ordering.</a:t>
            </a:r>
          </a:p>
        </p:txBody>
      </p:sp>
    </p:spTree>
    <p:extLst>
      <p:ext uri="{BB962C8B-B14F-4D97-AF65-F5344CB8AC3E}">
        <p14:creationId xmlns:p14="http://schemas.microsoft.com/office/powerpoint/2010/main" val="315171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B9EE01A-BE46-4852-B7C2-1514697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8d3dddd8154b40">
              <a:extLst>
                <a:ext uri="{96DAC541-7B7A-43D3-8B79-37D633B846F1}">
                  <asvg:svgBlip xmlns:asvg="http://schemas.microsoft.com/office/drawing/2016/SVG/main" r:embed="Rfb6b5ba3fa05463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15B3BE7-A488-4194-939F-C6FB55D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8d3dddd8154b40">
              <a:extLst>
                <a:ext uri="{96DAC541-7B7A-43D3-8B79-37D633B846F1}">
                  <asvg:svgBlip xmlns:asvg="http://schemas.microsoft.com/office/drawing/2016/SVG/main" r:embed="Rfb6b5ba3fa05463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F844981-8B87-49CD-9988-9F40721A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880eabd6b413f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C73BDC-CCC8-4C9F-9573-3FA9EF7F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Implementation, Limitations and Conclusion</a:t>
            </a:r>
          </a:p>
        </p:txBody>
      </p:sp>
      <p:sp>
        <p:nvSpPr>
          <p:cNvPr id="6" name="implementation-copy">
            <a:extLst xmlns:a="http://schemas.openxmlformats.org/drawingml/2006/main">
              <a:ext uri="{FF2B5EF4-FFF2-40B4-BE49-F238E27FC236}">
                <a16:creationId xmlns:a16="http://schemas.microsoft.com/office/drawing/2014/main" id="{CE1684F6-7DB7-42C7-9876-88D2B5F6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76375"/>
            <a:ext cx="1609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Java 21 desktop application built with JavaFX and Maven. The Results page presents local heuristic feedback and five algorithm entries. JUnit tests cover analysis, estimation, simulation boundaries and report validation.</a:t>
            </a:r>
          </a:p>
        </p:txBody>
      </p:sp>
      <p:sp>
        <p:nvSpPr>
          <p:cNvPr id="7" name="test-result">
            <a:extLst xmlns:a="http://schemas.openxmlformats.org/drawingml/2006/main">
              <a:ext uri="{FF2B5EF4-FFF2-40B4-BE49-F238E27FC236}">
                <a16:creationId xmlns:a16="http://schemas.microsoft.com/office/drawing/2014/main" id="{D8CD38F5-7D5C-42D2-9D46-19AB181E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Validation evidence: mvn test and mvn package succeeded; 134 tests passed.</a:t>
            </a:r>
          </a:p>
        </p:txBody>
      </p:sp>
      <p:sp>
        <p:nvSpPr>
          <p:cNvPr id="8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806526F0-982C-44A6-BD54-4DFFD40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LIMITATIONS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8D9BCC33-E58D-447F-9600-F37C5078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91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1</a:t>
            </a:r>
          </a:p>
        </p:txBody>
      </p:sp>
      <p:sp>
        <p:nvSpPr>
          <p:cNvPr id="10" name="limit-1">
            <a:extLst xmlns:a="http://schemas.openxmlformats.org/drawingml/2006/main">
              <a:ext uri="{FF2B5EF4-FFF2-40B4-BE49-F238E27FC236}">
                <a16:creationId xmlns:a16="http://schemas.microsoft.com/office/drawing/2014/main" id="{A9C142BC-26AB-4023-88BA-ED30ABF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33875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Estimates are educational and depend on simplified assumptions.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3672AD23-6108-4626-AB9E-05AF5144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2</a:t>
            </a:r>
          </a:p>
        </p:txBody>
      </p:sp>
      <p:sp>
        <p:nvSpPr>
          <p:cNvPr id="12" name="limit-2">
            <a:extLst xmlns:a="http://schemas.openxmlformats.org/drawingml/2006/main">
              <a:ext uri="{FF2B5EF4-FFF2-40B4-BE49-F238E27FC236}">
                <a16:creationId xmlns:a16="http://schemas.microsoft.com/office/drawing/2014/main" id="{3DBF86CE-7030-4BE1-94EB-E32C65FE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29225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Synthetic simulation does not crack the submitted password.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E4FFC002-FBDD-476D-B4CD-3F182B98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817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3</a:t>
            </a:r>
          </a:p>
        </p:txBody>
      </p:sp>
      <p:sp>
        <p:nvSpPr>
          <p:cNvPr id="14" name="limit-3">
            <a:extLst xmlns:a="http://schemas.openxmlformats.org/drawingml/2006/main">
              <a:ext uri="{FF2B5EF4-FFF2-40B4-BE49-F238E27FC236}">
                <a16:creationId xmlns:a16="http://schemas.microsoft.com/office/drawing/2014/main" id="{371CD650-810D-487C-8051-BB3E8302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124575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Optional benchmark uses a random fixture; verification latency is not cracking throughput.</a:t>
            </a:r>
          </a:p>
        </p:txBody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B3B7F4A6-4779-4019-B7CB-1CCDF46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77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4</a:t>
            </a:r>
          </a:p>
        </p:txBody>
      </p:sp>
      <p:sp>
        <p:nvSpPr>
          <p:cNvPr id="16" name="limit-4">
            <a:extLst xmlns:a="http://schemas.openxmlformats.org/drawingml/2006/main">
              <a:ext uri="{FF2B5EF4-FFF2-40B4-BE49-F238E27FC236}">
                <a16:creationId xmlns:a16="http://schemas.microsoft.com/office/drawing/2014/main" id="{D6B37726-F397-4FC7-A3DB-C1C4ABE3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019925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Benchmark JSON is unsigned. Matching metadata does not prove authenticity or tamper resistance.</a:t>
            </a:r>
          </a:p>
        </p:txBody>
      </p:sp>
      <p:sp>
        <p:nvSpPr>
          <p:cNvPr id="17" name="conclusion-box">
            <a:extLst xmlns:a="http://schemas.openxmlformats.org/drawingml/2006/main">
              <a:ext uri="{FF2B5EF4-FFF2-40B4-BE49-F238E27FC236}">
                <a16:creationId xmlns:a16="http://schemas.microsoft.com/office/drawing/2014/main" id="{58EC7A7C-BE7C-4977-B485-A1CEE07B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0"/>
            <a:ext cx="5524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8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494DEBB3-540D-4B82-86F9-F6AF116E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429125"/>
            <a:ext cx="4667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Astra AI provides an educational way to explore password characteristics, hashing approaches, and the assumptions behind crack-time estimates.</a:t>
            </a:r>
          </a:p>
        </p:txBody>
      </p:sp>
      <p:sp>
        <p:nvSpPr>
          <p:cNvPr id="19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7EEFAD44-CC8E-496A-A55B-4FFE4CC5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58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Understand the assumptions. Interpret estimates responsibly.</a:t>
            </a:r>
          </a:p>
        </p:txBody>
      </p:sp>
    </p:spTree>
    <p:extLst>
      <p:ext uri="{BB962C8B-B14F-4D97-AF65-F5344CB8AC3E}">
        <p14:creationId xmlns:p14="http://schemas.microsoft.com/office/powerpoint/2010/main" val="3151716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2026-10-22T05:13:12.0980000Z</dcterms:created>
  <dcterms:modified xsi:type="dcterms:W3CDTF">2026-10-22T05:13:12.0980000Z</dcterms:modified>
</coreProperties>
</file>