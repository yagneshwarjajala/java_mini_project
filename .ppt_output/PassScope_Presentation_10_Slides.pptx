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c14c1478641b4" /><Relationship Type="http://schemas.openxmlformats.org/officeDocument/2006/relationships/extended-properties" Target="/docProps/app.xml" Id="R252e7d2fc95d48d7" /><Relationship Type="http://schemas.openxmlformats.org/officeDocument/2006/relationships/officeDocument" Target="/ppt/presentation.xml" Id="Rf196e25851f940d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54083f096a94e1d"/>
  </p:sldMasterIdLst>
  <p:notesMasterIdLst>
    <p:notesMasterId xmlns:r="http://schemas.openxmlformats.org/officeDocument/2006/relationships" r:id="Ra6f9a83f80794330"/>
  </p:notesMasterIdLst>
  <p:sldIdLst>
    <p:sldId xmlns:r="http://schemas.openxmlformats.org/officeDocument/2006/relationships" id="256" r:id="R719029fdaccd4cf0"/>
    <p:sldId xmlns:r="http://schemas.openxmlformats.org/officeDocument/2006/relationships" id="257" r:id="R28b6af66d83b487a"/>
    <p:sldId xmlns:r="http://schemas.openxmlformats.org/officeDocument/2006/relationships" id="258" r:id="Reacf5c7723fa4219"/>
    <p:sldId xmlns:r="http://schemas.openxmlformats.org/officeDocument/2006/relationships" id="259" r:id="R95e6d881a7214d75"/>
    <p:sldId xmlns:r="http://schemas.openxmlformats.org/officeDocument/2006/relationships" id="260" r:id="R000d388e413b41c3"/>
    <p:sldId xmlns:r="http://schemas.openxmlformats.org/officeDocument/2006/relationships" id="261" r:id="Rb344cbabe04443a8"/>
    <p:sldId xmlns:r="http://schemas.openxmlformats.org/officeDocument/2006/relationships" id="262" r:id="R0f509f8469a042fa"/>
    <p:sldId xmlns:r="http://schemas.openxmlformats.org/officeDocument/2006/relationships" id="263" r:id="R4f55427109ac4e97"/>
    <p:sldId xmlns:r="http://schemas.openxmlformats.org/officeDocument/2006/relationships" id="264" r:id="R74fae0012d1a4a2c"/>
    <p:sldId xmlns:r="http://schemas.openxmlformats.org/officeDocument/2006/relationships" id="265" r:id="Re82c4d949d104cf1"/>
  </p:sldIdLst>
  <p:sldSz cx="18288000" cy="10287000"/>
  <p:notesSz cx="6858000" cy="9144000"/>
  <p:embeddedFontLst>
    <p:embeddedFont>
      <p:font typeface="Glacial Indifference Bold"/>
      <p:regular xmlns:r="http://schemas.openxmlformats.org/officeDocument/2006/relationships" r:id="R5e84f5a69db3490e"/>
    </p:embeddedFont>
    <p:embeddedFont>
      <p:font typeface="Canva Sans"/>
      <p:regular xmlns:r="http://schemas.openxmlformats.org/officeDocument/2006/relationships" r:id="R1e69cb5ad43549f6"/>
    </p:embeddedFont>
    <p:embeddedFont>
      <p:font typeface="Cooper BT Bold Italics"/>
      <p:regular xmlns:r="http://schemas.openxmlformats.org/officeDocument/2006/relationships" r:id="R7c5c51b7f8ff41ab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f45858bc144995" /><Relationship Type="http://schemas.openxmlformats.org/officeDocument/2006/relationships/slideMaster" Target="/ppt/slideMasters/slideMaster1.xml" Id="R054083f096a94e1d" /><Relationship Type="http://schemas.openxmlformats.org/officeDocument/2006/relationships/notesMaster" Target="/ppt/notesMasters/notesMaster1.xml" Id="Ra6f9a83f80794330" /><Relationship Type="http://schemas.openxmlformats.org/officeDocument/2006/relationships/presProps" Target="/ppt/presProps.xml" Id="R8f81e98321674239" /><Relationship Type="http://schemas.openxmlformats.org/officeDocument/2006/relationships/viewProps" Target="/ppt/viewProps.xml" Id="R42476ca2187746eb" /><Relationship Type="http://schemas.openxmlformats.org/officeDocument/2006/relationships/tableStyles" Target="/ppt/tableStyles.xml" Id="R5e07f676ec3c48c0" /><Relationship Type="http://schemas.openxmlformats.org/officeDocument/2006/relationships/font" Target="/ppt/fonts/font.dat" Id="R5e84f5a69db3490e" /><Relationship Type="http://schemas.openxmlformats.org/officeDocument/2006/relationships/font" Target="/ppt/fonts/font2.dat" Id="R1e69cb5ad43549f6" /><Relationship Type="http://schemas.openxmlformats.org/officeDocument/2006/relationships/font" Target="/ppt/fonts/font3.dat" Id="R7c5c51b7f8ff41ab" /><Relationship Type="http://schemas.openxmlformats.org/officeDocument/2006/relationships/slide" Target="/ppt/slides/slide1.xml" Id="R719029fdaccd4cf0" /><Relationship Type="http://schemas.openxmlformats.org/officeDocument/2006/relationships/slide" Target="/ppt/slides/slide2.xml" Id="R28b6af66d83b487a" /><Relationship Type="http://schemas.openxmlformats.org/officeDocument/2006/relationships/slide" Target="/ppt/slides/slide3.xml" Id="Reacf5c7723fa4219" /><Relationship Type="http://schemas.openxmlformats.org/officeDocument/2006/relationships/slide" Target="/ppt/slides/slide4.xml" Id="R95e6d881a7214d75" /><Relationship Type="http://schemas.openxmlformats.org/officeDocument/2006/relationships/slide" Target="/ppt/slides/slide5.xml" Id="R000d388e413b41c3" /><Relationship Type="http://schemas.openxmlformats.org/officeDocument/2006/relationships/slide" Target="/ppt/slides/slide6.xml" Id="Rb344cbabe04443a8" /><Relationship Type="http://schemas.openxmlformats.org/officeDocument/2006/relationships/slide" Target="/ppt/slides/slide7.xml" Id="R0f509f8469a042fa" /><Relationship Type="http://schemas.openxmlformats.org/officeDocument/2006/relationships/slide" Target="/ppt/slides/slide8.xml" Id="R4f55427109ac4e97" /><Relationship Type="http://schemas.openxmlformats.org/officeDocument/2006/relationships/slide" Target="/ppt/slides/slide9.xml" Id="R74fae0012d1a4a2c" /><Relationship Type="http://schemas.openxmlformats.org/officeDocument/2006/relationships/slide" Target="/ppt/slides/slide10.xml" Id="Re82c4d949d104c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9bd09137442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779276a7e74671" /><Relationship Type="http://schemas.openxmlformats.org/officeDocument/2006/relationships/notesMaster" Target="/ppt/notesMasters/notesMaster1.xml" Id="Rc598b6262b7b44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ecd8e7d6d4b8b" /><Relationship Type="http://schemas.openxmlformats.org/officeDocument/2006/relationships/notesMaster" Target="/ppt/notesMasters/notesMaster1.xml" Id="Rbda9055c974a48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48b7b517146fb" /><Relationship Type="http://schemas.openxmlformats.org/officeDocument/2006/relationships/notesMaster" Target="/ppt/notesMasters/notesMaster1.xml" Id="R2ab810b2607d48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db619bb9e840ac" /><Relationship Type="http://schemas.openxmlformats.org/officeDocument/2006/relationships/notesMaster" Target="/ppt/notesMasters/notesMaster1.xml" Id="R9eff78c5e74a46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eabafa0e3d4dd9" /><Relationship Type="http://schemas.openxmlformats.org/officeDocument/2006/relationships/notesMaster" Target="/ppt/notesMasters/notesMaster1.xml" Id="Refebcb82d96348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e438bacadc4b14" /><Relationship Type="http://schemas.openxmlformats.org/officeDocument/2006/relationships/notesMaster" Target="/ppt/notesMasters/notesMaster1.xml" Id="R969a2a3ca661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e883bfce4e4d9c" /><Relationship Type="http://schemas.openxmlformats.org/officeDocument/2006/relationships/notesMaster" Target="/ppt/notesMasters/notesMaster1.xml" Id="Rec216942bd4648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afadd60dd742d3" /><Relationship Type="http://schemas.openxmlformats.org/officeDocument/2006/relationships/notesMaster" Target="/ppt/notesMasters/notesMaster1.xml" Id="R49d876a251294e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9da15502e94e77" /><Relationship Type="http://schemas.openxmlformats.org/officeDocument/2006/relationships/notesMaster" Target="/ppt/notesMasters/notesMaster1.xml" Id="R43d3ea35745545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de1a5e2f18400e" /><Relationship Type="http://schemas.openxmlformats.org/officeDocument/2006/relationships/notesMaster" Target="/ppt/notesMasters/notesMaster1.xml" Id="R931061604eac47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4f5fe0794943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9b82803984d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e882401b94b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8b6d25c3644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f5fa78f8d48c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a9d2fe2f04a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9f5c572874b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b43db7c89340a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7944eb3e747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9b8e80eab47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b4e862b76474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886D1F-8562-4F48-97D0-CB7D049F143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49C517-2D5E-4FA3-8561-0B028864F9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A35DD4-0BAE-499E-9A3F-436835C242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07BEF8-86C1-4E7B-BD7C-E570086789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3FA6FC-7B71-4127-B4D8-9DB605E8F0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7D9116-59C9-464F-A494-9AFA66EF9392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D2D204-76DE-4F5F-B04C-12AB8735946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781F746-A6DA-40C1-9688-338FF460D0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DE58AE-F151-467E-A2FE-9CAE099020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AF738E-4DAA-4B28-B25A-506F0DC817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7929A13-868A-40E2-A338-697A9869DA40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0FC49A2-E408-4D1C-B95D-F17D520261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3117F0F-02F0-4792-B687-EAFC86AA2C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FDE037A-32D6-47C4-8D8E-236091C578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A80AA43-287A-4350-A3BE-45471C2379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4C34DC-EE02-4D59-82A0-28EA74B4B994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B874B0-950B-4BBD-8A8C-98E6135DAD0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73D7EB9-3CB3-40FA-B62B-6E45DC02B07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C7FA80-2257-49D5-9A69-4BC704E16B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A7CA52D-3D2E-4CC7-8062-C073DB663B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D1A67AC-D923-4954-812F-A94A471D2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370DEB-8CF9-4D45-B4F9-5EF9DF8E7ADF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C99A13-4C76-44EB-939D-84642C5697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974DD2-F12E-4A85-85E9-36FD91BB08B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977C40-972E-437D-9007-0DCB9EF50E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A01883A-4FFE-451F-A84A-4ACD7385109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FB7DDDC-4104-4BE5-B15E-F8D33CDB89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9BB3F39-D26B-408B-A702-FF3A6A293A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70694A7-77C4-4445-941E-9340A31727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0B0EA46-4CBE-4419-8B5E-B3DC65E16281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F630F72-FC03-4B81-A61A-5D1514D12B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56F49DC-4AD8-4801-9CDD-D08289573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AE1974A-7845-48B1-892F-E6FAEE3217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07C5795-2C14-4E62-BB14-9CD4C498B2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89638F2-E9AB-464C-BA00-AE6E868879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EB1BB7C-8E95-4AAD-AB42-520119F69B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C2106E-C3B2-4F62-ABAC-58F9ACC3DB7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6608636-C146-4006-B121-E853559B46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268E8D7-714A-4A47-877D-ADD83A6071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B47DF2-0A93-4CE8-B8E8-E4055077A7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72FCD56-101E-4C01-9B82-602C03AAF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219D0B-997E-456E-AF46-97BD140834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010407-AF93-435E-BBC2-6EE4557C3787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9A44285-A09D-4F6C-BD92-669DED86009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30A942D-1FFF-4370-A9E0-A79B26F6A8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CBF061F-A410-4168-91DF-34FB5E60D3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4DAB3D4-4D6F-4E73-B4F1-723600F388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A04E1D-2670-40F1-B42F-0EF89449B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6BC321-D3FE-4F06-9943-A6A6CA0F1C8D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1DD0E2-581F-40D1-8804-3424B366DB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C9E3C4-8D14-4360-85B3-180CAF207C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01F012-00C2-47C1-9B59-A63DEBAB0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5ABEBF-694E-42B0-9D57-32612E9A8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F6C2F1F-20BA-47C9-8585-A48ECE0167F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0708F34-AF5D-469F-B967-2142F3C432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9D3B91-9FFA-427D-80AE-B10EDE9CCA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10CEA8-0E48-477B-8AC4-26FD0E4091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D9FE43-3DBC-414B-B137-78B6BAB75A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751ca284c947c6" /><Relationship Type="http://schemas.openxmlformats.org/officeDocument/2006/relationships/slideLayout" Target="/ppt/slideLayouts/slideLayout1.xml" Id="R7157b16e05f64d4e" /><Relationship Type="http://schemas.openxmlformats.org/officeDocument/2006/relationships/slideLayout" Target="/ppt/slideLayouts/slideLayout2.xml" Id="R75b1d3df418145ab" /><Relationship Type="http://schemas.openxmlformats.org/officeDocument/2006/relationships/slideLayout" Target="/ppt/slideLayouts/slideLayout3.xml" Id="Rde508c368cba40a9" /><Relationship Type="http://schemas.openxmlformats.org/officeDocument/2006/relationships/slideLayout" Target="/ppt/slideLayouts/slideLayout4.xml" Id="Rbdc9fae1f28548f6" /><Relationship Type="http://schemas.openxmlformats.org/officeDocument/2006/relationships/slideLayout" Target="/ppt/slideLayouts/slideLayout5.xml" Id="Rd0d75a4e306f48e9" /><Relationship Type="http://schemas.openxmlformats.org/officeDocument/2006/relationships/slideLayout" Target="/ppt/slideLayouts/slideLayout6.xml" Id="R3a790426734c4457" /><Relationship Type="http://schemas.openxmlformats.org/officeDocument/2006/relationships/slideLayout" Target="/ppt/slideLayouts/slideLayout7.xml" Id="Ra7841c968c7144d2" /><Relationship Type="http://schemas.openxmlformats.org/officeDocument/2006/relationships/slideLayout" Target="/ppt/slideLayouts/slideLayout8.xml" Id="R703e3b7e1e1c4361" /><Relationship Type="http://schemas.openxmlformats.org/officeDocument/2006/relationships/slideLayout" Target="/ppt/slideLayouts/slideLayout9.xml" Id="R88ca680a84e745fe" /><Relationship Type="http://schemas.openxmlformats.org/officeDocument/2006/relationships/slideLayout" Target="/ppt/slideLayouts/slideLayout10.xml" Id="R7b54a06c60de476d" /><Relationship Type="http://schemas.openxmlformats.org/officeDocument/2006/relationships/slideLayout" Target="/ppt/slideLayouts/slideLayout11.xml" Id="Rd0c59bdf3e5f463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54554C-AC64-44A1-98E2-32222B08532E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A002C24-32D8-40DA-8CF0-BC0E52F693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71B627-B2B3-4445-BB49-A12980CD96B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F2837F2-98B5-470A-A0B4-300E83DEA08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D6263A9-65CF-4937-8A0A-8AA2C870AAF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7b16e05f64d4e"/>
    <p:sldLayoutId xmlns:r="http://schemas.openxmlformats.org/officeDocument/2006/relationships" id="2147483650" r:id="R75b1d3df418145ab"/>
    <p:sldLayoutId xmlns:r="http://schemas.openxmlformats.org/officeDocument/2006/relationships" id="2147483651" r:id="Rde508c368cba40a9"/>
    <p:sldLayoutId xmlns:r="http://schemas.openxmlformats.org/officeDocument/2006/relationships" id="2147483652" r:id="Rbdc9fae1f28548f6"/>
    <p:sldLayoutId xmlns:r="http://schemas.openxmlformats.org/officeDocument/2006/relationships" id="2147483653" r:id="Rd0d75a4e306f48e9"/>
    <p:sldLayoutId xmlns:r="http://schemas.openxmlformats.org/officeDocument/2006/relationships" id="2147483654" r:id="R3a790426734c4457"/>
    <p:sldLayoutId xmlns:r="http://schemas.openxmlformats.org/officeDocument/2006/relationships" id="2147483655" r:id="Ra7841c968c7144d2"/>
    <p:sldLayoutId xmlns:r="http://schemas.openxmlformats.org/officeDocument/2006/relationships" id="2147483656" r:id="R703e3b7e1e1c4361"/>
    <p:sldLayoutId xmlns:r="http://schemas.openxmlformats.org/officeDocument/2006/relationships" id="2147483657" r:id="R88ca680a84e745fe"/>
    <p:sldLayoutId xmlns:r="http://schemas.openxmlformats.org/officeDocument/2006/relationships" id="2147483658" r:id="R7b54a06c60de476d"/>
    <p:sldLayoutId xmlns:r="http://schemas.openxmlformats.org/officeDocument/2006/relationships" id="2147483659" r:id="Rd0c59bdf3e5f4631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c45737e89a4b08" /><Relationship Type="http://schemas.openxmlformats.org/officeDocument/2006/relationships/image" Target="/ppt/media/image.png" Id="R43c1622dfc8b4058" /><Relationship Type="http://schemas.openxmlformats.org/officeDocument/2006/relationships/image" Target="/ppt/media/image.svg" Id="R8be48dff924b454d" /><Relationship Type="http://schemas.openxmlformats.org/officeDocument/2006/relationships/image" Target="/ppt/media/image2.png" Id="R9a2cef1e0b464b79" /><Relationship Type="http://schemas.openxmlformats.org/officeDocument/2006/relationships/image" Target="/ppt/media/image3.png" Id="R008cd985808d48c4" /><Relationship Type="http://schemas.openxmlformats.org/officeDocument/2006/relationships/image" Target="/ppt/media/image4.png" Id="R1c119a887dd34628" /><Relationship Type="http://schemas.openxmlformats.org/officeDocument/2006/relationships/notesSlide" Target="/ppt/notesSlides/notesSlide1.xml" Id="R0ac3884f1b48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77213ed5dd43c0" /><Relationship Type="http://schemas.openxmlformats.org/officeDocument/2006/relationships/image" Target="/ppt/media/image.png" Id="Rcacef5e570f34b42" /><Relationship Type="http://schemas.openxmlformats.org/officeDocument/2006/relationships/image" Target="/ppt/media/image.svg" Id="Rd9ec5913e1cc45bf" /><Relationship Type="http://schemas.openxmlformats.org/officeDocument/2006/relationships/image" Target="/ppt/media/image2.png" Id="R2b72f2b4a42044c9" /><Relationship Type="http://schemas.openxmlformats.org/officeDocument/2006/relationships/image" Target="/ppt/media/image3.png" Id="R02f4b3d34c6e450a" /><Relationship Type="http://schemas.openxmlformats.org/officeDocument/2006/relationships/image" Target="/ppt/media/image4.png" Id="R8f56fd0e23c44aa5" /><Relationship Type="http://schemas.openxmlformats.org/officeDocument/2006/relationships/notesSlide" Target="/ppt/notesSlides/notesSlide2.xml" Id="R84953a379a0a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996e689fb24209" /><Relationship Type="http://schemas.openxmlformats.org/officeDocument/2006/relationships/image" Target="/ppt/media/image.png" Id="R13d206112d034cf7" /><Relationship Type="http://schemas.openxmlformats.org/officeDocument/2006/relationships/image" Target="/ppt/media/image.svg" Id="Red3374afb61f42a1" /><Relationship Type="http://schemas.openxmlformats.org/officeDocument/2006/relationships/image" Target="/ppt/media/image2.png" Id="Ra5084f6c1c7c47f2" /><Relationship Type="http://schemas.openxmlformats.org/officeDocument/2006/relationships/image" Target="/ppt/media/image5.png" Id="Re279290715084e95" /><Relationship Type="http://schemas.openxmlformats.org/officeDocument/2006/relationships/notesSlide" Target="/ppt/notesSlides/notesSlide3.xml" Id="Rc92564484068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d2078f60fd4234" /><Relationship Type="http://schemas.openxmlformats.org/officeDocument/2006/relationships/image" Target="/ppt/media/image.png" Id="Rdc09bb25e5cd4fae" /><Relationship Type="http://schemas.openxmlformats.org/officeDocument/2006/relationships/image" Target="/ppt/media/image.svg" Id="R0a9bfdd5a41047f5" /><Relationship Type="http://schemas.openxmlformats.org/officeDocument/2006/relationships/image" Target="/ppt/media/image2.png" Id="R7fd70e3bac9d402b" /><Relationship Type="http://schemas.openxmlformats.org/officeDocument/2006/relationships/notesSlide" Target="/ppt/notesSlides/notesSlide4.xml" Id="R30afb62bbbf744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a2b804d8344f6e" /><Relationship Type="http://schemas.openxmlformats.org/officeDocument/2006/relationships/image" Target="/ppt/media/image.png" Id="Rf1260593a7b94cb4" /><Relationship Type="http://schemas.openxmlformats.org/officeDocument/2006/relationships/image" Target="/ppt/media/image.svg" Id="R14f4c1fd10134ca0" /><Relationship Type="http://schemas.openxmlformats.org/officeDocument/2006/relationships/image" Target="/ppt/media/image2.png" Id="R5efd2a59c7ef43b5" /><Relationship Type="http://schemas.openxmlformats.org/officeDocument/2006/relationships/notesSlide" Target="/ppt/notesSlides/notesSlide5.xml" Id="R45b8b333dd9847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da340d2643447c" /><Relationship Type="http://schemas.openxmlformats.org/officeDocument/2006/relationships/image" Target="/ppt/media/image.png" Id="R230271cfaf1c49b6" /><Relationship Type="http://schemas.openxmlformats.org/officeDocument/2006/relationships/image" Target="/ppt/media/image.svg" Id="R1172e4ff88114026" /><Relationship Type="http://schemas.openxmlformats.org/officeDocument/2006/relationships/image" Target="/ppt/media/image2.png" Id="Rff7a02e91cd147ac" /><Relationship Type="http://schemas.openxmlformats.org/officeDocument/2006/relationships/notesSlide" Target="/ppt/notesSlides/notesSlide6.xml" Id="R3ec82919bcbe42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9ef15bd307442c" /><Relationship Type="http://schemas.openxmlformats.org/officeDocument/2006/relationships/image" Target="/ppt/media/image.png" Id="R24a32b1aa853478b" /><Relationship Type="http://schemas.openxmlformats.org/officeDocument/2006/relationships/image" Target="/ppt/media/image.svg" Id="Ra4f7ae0d66d54f56" /><Relationship Type="http://schemas.openxmlformats.org/officeDocument/2006/relationships/image" Target="/ppt/media/image2.png" Id="Rd84f8d92b8784616" /><Relationship Type="http://schemas.openxmlformats.org/officeDocument/2006/relationships/notesSlide" Target="/ppt/notesSlides/notesSlide7.xml" Id="R73abce9ec5da48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36456a997e41d1" /><Relationship Type="http://schemas.openxmlformats.org/officeDocument/2006/relationships/image" Target="/ppt/media/image.png" Id="Ra34008ffbdf8409d" /><Relationship Type="http://schemas.openxmlformats.org/officeDocument/2006/relationships/image" Target="/ppt/media/image.svg" Id="R5722c16646f644c7" /><Relationship Type="http://schemas.openxmlformats.org/officeDocument/2006/relationships/image" Target="/ppt/media/image2.png" Id="Rdd622e70a66a470d" /><Relationship Type="http://schemas.openxmlformats.org/officeDocument/2006/relationships/notesSlide" Target="/ppt/notesSlides/notesSlide8.xml" Id="R21dd70de6cff48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97994d43924add" /><Relationship Type="http://schemas.openxmlformats.org/officeDocument/2006/relationships/image" Target="/ppt/media/image.png" Id="R5f8781995b2044c9" /><Relationship Type="http://schemas.openxmlformats.org/officeDocument/2006/relationships/image" Target="/ppt/media/image.svg" Id="R4cdae942a8ae4d3f" /><Relationship Type="http://schemas.openxmlformats.org/officeDocument/2006/relationships/image" Target="/ppt/media/image2.png" Id="R161dc6ab9d7b48b7" /><Relationship Type="http://schemas.openxmlformats.org/officeDocument/2006/relationships/notesSlide" Target="/ppt/notesSlides/notesSlide9.xml" Id="Rcaef98b0f94640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d9e215057d04286" /><Relationship Type="http://schemas.openxmlformats.org/officeDocument/2006/relationships/image" Target="/ppt/media/image.png" Id="R250f1a1abd6242d3" /><Relationship Type="http://schemas.openxmlformats.org/officeDocument/2006/relationships/image" Target="/ppt/media/image.svg" Id="R6d9f124eb888473e" /><Relationship Type="http://schemas.openxmlformats.org/officeDocument/2006/relationships/image" Target="/ppt/media/image2.png" Id="Ra1faa05183084203" /><Relationship Type="http://schemas.openxmlformats.org/officeDocument/2006/relationships/notesSlide" Target="/ppt/notesSlides/notesSlide10.xml" Id="R72f167655d894b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B1574B7-2E2B-4B0C-8E07-A335F775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c1622dfc8b4058">
              <a:extLst>
                <a:ext uri="{96DAC541-7B7A-43D3-8B79-37D633B846F1}">
                  <asvg:svgBlip xmlns:asvg="http://schemas.microsoft.com/office/drawing/2016/SVG/main" r:embed="R8be48dff924b454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9BB366F-7828-4826-B337-B9B38C13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3c1622dfc8b4058">
              <a:extLst>
                <a:ext uri="{96DAC541-7B7A-43D3-8B79-37D633B846F1}">
                  <asvg:svgBlip xmlns:asvg="http://schemas.microsoft.com/office/drawing/2016/SVG/main" r:embed="R8be48dff924b454d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5CFFAB8-D590-4DD6-8FD4-090051CD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32993" y="-234171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a2cef1e0b464b79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EC18F21-5E66-4B1E-AB5B-2C8C2F01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6132180" y="-218453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08cd985808d48c4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F0834E4-7591-4A72-9F21-EDBA5B3A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832" y="10137500"/>
            <a:ext cx="18288000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"The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9CFD521-0015-4FE3-9C55-259EA9C8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75708" y="1192697"/>
            <a:ext cx="2445068" cy="580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Project title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7C7408D-EA77-4777-9EAE-DC373CFD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7520" y="7024775"/>
            <a:ext cx="4263896" cy="11804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buNone/>
            </a:pPr>
            <a:r>
              <a:rPr sz="3399">
                <a:solidFill>
                  <a:srgbClr val="000000"/>
                </a:solidFill>
                <a:latin typeface="Canva Sans"/>
                <a:ea typeface="Canva Sans"/>
                <a:cs typeface="Canva Sans"/>
              </a:rPr>
              <a:t>Presented by:</a:t>
            </a:r>
          </a:p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B2DC28A-1223-44CB-94F7-E8E61A4F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7031589" y="5933758"/>
            <a:ext cx="17405534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59"/>
              </a:lnSpc>
              <a:spcBef>
                <a:spcPct val="0"/>
              </a:spcBef>
              <a:buNone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656C816-5846-49CA-AD7F-9484664E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953586" y="9900690"/>
            <a:ext cx="4177732" cy="5234850"/>
          </a:xfrm>
          <a:custGeom xmlns:a="http://schemas.openxmlformats.org/drawingml/2006/main">
            <a:rect l="l" t="t" r="r" b="b"/>
            <a:pathLst>
              <a:path w="4177732" h="5234850">
                <a:moveTo>
                  <a:pt x="0" y="0"/>
                </a:moveTo>
                <a:lnTo>
                  <a:pt x="4177732" y="0"/>
                </a:lnTo>
                <a:lnTo>
                  <a:pt x="4177732" y="5234850"/>
                </a:lnTo>
                <a:lnTo>
                  <a:pt x="0" y="52348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119a887dd34628"/>
            <a:stretch>
              <a:fillRect l="0" t="0" r="0" b="0"/>
            </a:stretch>
          </a:blip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E873B9-08DA-4B6A-BF73-8EEC3095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841059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2FF34852-00B2-4DB5-ADE2-B2DE4220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cef5e570f34b42">
              <a:extLst>
                <a:ext uri="{96DAC541-7B7A-43D3-8B79-37D633B846F1}">
                  <asvg:svgBlip xmlns:asvg="http://schemas.microsoft.com/office/drawing/2016/SVG/main" r:embed="Rd9ec5913e1cc45b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D9635104-C36D-4AFB-ABE3-CE7EBE6C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cef5e570f34b42">
              <a:extLst>
                <a:ext uri="{96DAC541-7B7A-43D3-8B79-37D633B846F1}">
                  <asvg:svgBlip xmlns:asvg="http://schemas.microsoft.com/office/drawing/2016/SVG/main" r:embed="Rd9ec5913e1cc45b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F6F658A-C292-422F-AA46-D9BDD1C3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b72f2b4a42044c9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FBD8004A-960A-4FDB-ADCF-F2AEF5FC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63999" y="1028700"/>
            <a:ext cx="6726012" cy="2679195"/>
          </a:xfrm>
          <a:custGeom xmlns:a="http://schemas.openxmlformats.org/drawingml/2006/main">
            <a:rect l="l" t="t" r="r" b="b"/>
            <a:pathLst>
              <a:path w="6726012" h="2679195">
                <a:moveTo>
                  <a:pt x="0" y="0"/>
                </a:moveTo>
                <a:lnTo>
                  <a:pt x="6726012" y="0"/>
                </a:lnTo>
                <a:lnTo>
                  <a:pt x="6726012" y="2679195"/>
                </a:lnTo>
                <a:lnTo>
                  <a:pt x="0" y="26791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2f4b3d34c6e450a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28877CF-4181-4D54-8A19-652AB21A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6816" y="3974032"/>
            <a:ext cx="176943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The combination of weak passwords and weak hashing algorithms significantly increases the risk of password recovery after a data breach. Modern AI-based password guessing tools such as PassGAN can exploit predictable password patterns, making strong hashing mechanisms essential for user security.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F167CBA-B1B9-4FBD-8517-A5E58CF5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233" y="6877685"/>
            <a:ext cx="17846767" cy="2380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34059" lvl="1" indent="-367030" algn="l">
              <a:lnSpc>
                <a:spcPts val="4759"/>
              </a:lnSpc>
              <a:spcBef>
                <a:spcPct val="0"/>
              </a:spcBef>
              <a:buFont typeface="Arial"/>
              <a:buChar char="•"/>
            </a:pPr>
            <a:r>
              <a:rPr sz="3399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</a:rPr>
              <a:t>AI has not broken cryptography itself. Instead, it has become highly effective at exploiting human-created password patterns. Organizations must use strong password hashing algorithms (bcrypt, Argon2, PBKDF2) and enforce strong password policies to protect users</a:t>
            </a: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B826A6A9-3A80-469C-AFC6-1CCD795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998906" y="151321"/>
            <a:ext cx="2983206" cy="3738065"/>
          </a:xfrm>
          <a:custGeom xmlns:a="http://schemas.openxmlformats.org/drawingml/2006/main">
            <a:rect l="l" t="t" r="r" b="b"/>
            <a:pathLst>
              <a:path w="2983206" h="3738065">
                <a:moveTo>
                  <a:pt x="0" y="0"/>
                </a:moveTo>
                <a:lnTo>
                  <a:pt x="2983205" y="0"/>
                </a:lnTo>
                <a:lnTo>
                  <a:pt x="2983205" y="3738065"/>
                </a:lnTo>
                <a:lnTo>
                  <a:pt x="0" y="37380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56fd0e23c44aa5"/>
            <a:stretch>
              <a:fillRect l="0" t="0" r="0" b="0"/>
            </a:stretch>
          </a:blip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1F613C99-EC95-4DC4-908B-5DB94296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</p:spTree>
    <p:extLst>
      <p:ext uri="{BB962C8B-B14F-4D97-AF65-F5344CB8AC3E}">
        <p14:creationId xmlns:p14="http://schemas.microsoft.com/office/powerpoint/2010/main" val="8787011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d206112d034cf7">
              <a:extLst>
                <a:ext uri="{96DAC541-7B7A-43D3-8B79-37D633B846F1}">
                  <asvg:svgBlip xmlns:asvg="http://schemas.microsoft.com/office/drawing/2016/SVG/main" r:embed="Red3374afb61f42a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d206112d034cf7">
              <a:extLst>
                <a:ext uri="{96DAC541-7B7A-43D3-8B79-37D633B846F1}">
                  <asvg:svgBlip xmlns:asvg="http://schemas.microsoft.com/office/drawing/2016/SVG/main" r:embed="Red3374afb61f42a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084f6c1c7c47f2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E648290-08EA-4025-9786-4507CDE7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21195" y="784509"/>
            <a:ext cx="12445610" cy="8297074"/>
          </a:xfrm>
          <a:custGeom xmlns:a="http://schemas.openxmlformats.org/drawingml/2006/main">
            <a:rect l="l" t="t" r="r" b="b"/>
            <a:pathLst>
              <a:path w="12445610" h="8297074">
                <a:moveTo>
                  <a:pt x="0" y="0"/>
                </a:moveTo>
                <a:lnTo>
                  <a:pt x="12445610" y="0"/>
                </a:lnTo>
                <a:lnTo>
                  <a:pt x="12445610" y="8297073"/>
                </a:lnTo>
                <a:lnTo>
                  <a:pt x="0" y="82970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279290715084e95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3926496-969D-44C8-8E86-815556DD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-894715"/>
            <a:ext cx="14798349" cy="8947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7279"/>
              </a:lnSpc>
              <a:buNone/>
            </a:pPr>
            <a:r>
              <a:rPr sz="5199" b="1" i="1" spc="-18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Why Password hashing is important?</a:t>
            </a:r>
          </a:p>
        </p:txBody>
      </p:sp>
      <p:sp>
        <p:nvSpPr>
          <p:cNvPr id="7" name="slide-3-corrected-workflow">
            <a:extLst xmlns:a="http://schemas.openxmlformats.org/drawingml/2006/main">
              <a:ext uri="{FF2B5EF4-FFF2-40B4-BE49-F238E27FC236}">
                <a16:creationId xmlns:a16="http://schemas.microsoft.com/office/drawing/2014/main" id="{95D9CC62-FB26-41C6-9308-8B776FA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7524750"/>
            <a:ext cx="121920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AFA"/>
          </a:solidFill>
          <a:ln xmlns:a="http://schemas.openxmlformats.org/drawingml/2006/main" w="19050">
            <a:solidFill>
              <a:srgbClr val="005AE0"/>
            </a:solidFill>
            <a:prstDash val="solid"/>
          </a:ln>
        </p:spPr>
      </p:sp>
      <p:sp>
        <p:nvSpPr>
          <p:cNvPr id="8" name="slide-3-path-entry">
            <a:extLst xmlns:a="http://schemas.openxmlformats.org/drawingml/2006/main">
              <a:ext uri="{FF2B5EF4-FFF2-40B4-BE49-F238E27FC236}">
                <a16:creationId xmlns:a16="http://schemas.microsoft.com/office/drawing/2014/main" id="{339B685E-E789-4D51-89F0-E4D7FBED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7600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Input</a:t>
            </a:r>
          </a:p>
        </p:txBody>
      </p:sp>
      <p:sp>
        <p:nvSpPr>
          <p:cNvPr id="9" name="slide-3-path-arrow-1">
            <a:extLst xmlns:a="http://schemas.openxmlformats.org/drawingml/2006/main">
              <a:ext uri="{FF2B5EF4-FFF2-40B4-BE49-F238E27FC236}">
                <a16:creationId xmlns:a16="http://schemas.microsoft.com/office/drawing/2014/main" id="{CD4D021D-7196-4F39-9F4C-F66124CD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0" name="slide-3-path-analysis">
            <a:extLst xmlns:a="http://schemas.openxmlformats.org/drawingml/2006/main">
              <a:ext uri="{FF2B5EF4-FFF2-40B4-BE49-F238E27FC236}">
                <a16:creationId xmlns:a16="http://schemas.microsoft.com/office/drawing/2014/main" id="{DAA3E887-B55E-47FF-B5E6-7204289F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76009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Heuristic Analysis</a:t>
            </a:r>
          </a:p>
        </p:txBody>
      </p:sp>
      <p:sp>
        <p:nvSpPr>
          <p:cNvPr id="11" name="slide-3-path-arrow-2">
            <a:extLst xmlns:a="http://schemas.openxmlformats.org/drawingml/2006/main">
              <a:ext uri="{FF2B5EF4-FFF2-40B4-BE49-F238E27FC236}">
                <a16:creationId xmlns:a16="http://schemas.microsoft.com/office/drawing/2014/main" id="{1B491C31-7D29-496D-B1E8-0D7F0AF3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7667625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2" name="slide-3-path-result">
            <a:extLst xmlns:a="http://schemas.openxmlformats.org/drawingml/2006/main">
              <a:ext uri="{FF2B5EF4-FFF2-40B4-BE49-F238E27FC236}">
                <a16:creationId xmlns:a16="http://schemas.microsoft.com/office/drawing/2014/main" id="{FCA39934-9912-46DA-B49A-403F2247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60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 Result</a:t>
            </a:r>
          </a:p>
        </p:txBody>
      </p:sp>
      <p:sp>
        <p:nvSpPr>
          <p:cNvPr id="13" name="slide-3-simulation-boundary">
            <a:extLst xmlns:a="http://schemas.openxmlformats.org/drawingml/2006/main">
              <a:ext uri="{FF2B5EF4-FFF2-40B4-BE49-F238E27FC236}">
                <a16:creationId xmlns:a16="http://schemas.microsoft.com/office/drawing/2014/main" id="{9632C5E7-8EBC-41DA-AAB2-DC7F2D4B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8029575"/>
            <a:ext cx="11696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Separate synthetic candidate-index simulation. It does not hash or crack the submitted password.</a:t>
            </a:r>
          </a:p>
          <a:p xmlns:a="http://schemas.openxmlformats.org/drawingml/2006/main">
            <a:pPr algn="ctr">
              <a:def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5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Its throughput does not feed the educational estimate.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09bb25e5cd4fae">
              <a:extLst>
                <a:ext uri="{96DAC541-7B7A-43D3-8B79-37D633B846F1}">
                  <asvg:svgBlip xmlns:asvg="http://schemas.microsoft.com/office/drawing/2016/SVG/main" r:embed="R0a9bfdd5a41047f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c09bb25e5cd4fae">
              <a:extLst>
                <a:ext uri="{96DAC541-7B7A-43D3-8B79-37D633B846F1}">
                  <asvg:svgBlip xmlns:asvg="http://schemas.microsoft.com/office/drawing/2016/SVG/main" r:embed="R0a9bfdd5a41047f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fd70e3bac9d402b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6207DB-0A5F-4AB9-A1BB-4CDE755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PassScope: Educational Password Analysis</a:t>
            </a:r>
          </a:p>
        </p:txBody>
      </p:sp>
      <p:sp>
        <p:nvSpPr>
          <p:cNvPr id="6" name="bridge-copy">
            <a:extLst xmlns:a="http://schemas.openxmlformats.org/drawingml/2006/main">
              <a:ext uri="{FF2B5EF4-FFF2-40B4-BE49-F238E27FC236}">
                <a16:creationId xmlns:a16="http://schemas.microsoft.com/office/drawing/2014/main" id="{F9C186BB-7646-4A8D-A603-39198086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1609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Users need a clear way to explore password characteristics and compare password-hashing approaches. PassScope brings local heuristic analysis and algorithm guidance into one desktop interface.</a:t>
            </a:r>
          </a:p>
        </p:txBody>
      </p:sp>
      <p:sp>
        <p:nvSpPr>
          <p:cNvPr id="7" name="bridge-node-1">
            <a:extLst xmlns:a="http://schemas.openxmlformats.org/drawingml/2006/main">
              <a:ext uri="{FF2B5EF4-FFF2-40B4-BE49-F238E27FC236}">
                <a16:creationId xmlns:a16="http://schemas.microsoft.com/office/drawing/2014/main" id="{DAA3737D-22F9-4982-BD1D-12336CFD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bridge-heading-1">
            <a:extLst xmlns:a="http://schemas.openxmlformats.org/drawingml/2006/main">
              <a:ext uri="{FF2B5EF4-FFF2-40B4-BE49-F238E27FC236}">
                <a16:creationId xmlns:a16="http://schemas.microsoft.com/office/drawing/2014/main" id="{43E488B6-8642-4D92-BE7A-C0975054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Input</a:t>
            </a:r>
          </a:p>
        </p:txBody>
      </p:sp>
      <p:sp>
        <p:nvSpPr>
          <p:cNvPr id="9" name="bridge-detail-1">
            <a:extLst xmlns:a="http://schemas.openxmlformats.org/drawingml/2006/main">
              <a:ext uri="{FF2B5EF4-FFF2-40B4-BE49-F238E27FC236}">
                <a16:creationId xmlns:a16="http://schemas.microsoft.com/office/drawing/2014/main" id="{20D7EC1F-2451-41AF-9A5F-B69C175F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Entered for local analysis</a:t>
            </a:r>
          </a:p>
        </p:txBody>
      </p:sp>
      <p:sp>
        <p:nvSpPr>
          <p:cNvPr id="10" name="bridge-node-2">
            <a:extLst xmlns:a="http://schemas.openxmlformats.org/drawingml/2006/main">
              <a:ext uri="{FF2B5EF4-FFF2-40B4-BE49-F238E27FC236}">
                <a16:creationId xmlns:a16="http://schemas.microsoft.com/office/drawing/2014/main" id="{1593141C-F8C3-4F98-B351-06ED813E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bridge-heading-2">
            <a:extLst xmlns:a="http://schemas.openxmlformats.org/drawingml/2006/main">
              <a:ext uri="{FF2B5EF4-FFF2-40B4-BE49-F238E27FC236}">
                <a16:creationId xmlns:a16="http://schemas.microsoft.com/office/drawing/2014/main" id="{FE596C99-2D44-46EF-B3BA-0B0C74E3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Heuristic Analysis</a:t>
            </a:r>
          </a:p>
        </p:txBody>
      </p:sp>
      <p:sp>
        <p:nvSpPr>
          <p:cNvPr id="12" name="bridge-detail-2">
            <a:extLst xmlns:a="http://schemas.openxmlformats.org/drawingml/2006/main">
              <a:ext uri="{FF2B5EF4-FFF2-40B4-BE49-F238E27FC236}">
                <a16:creationId xmlns:a16="http://schemas.microsoft.com/office/drawing/2014/main" id="{0BDBCDDB-356B-4B26-9003-62833C99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Character patterns are assessed</a:t>
            </a:r>
          </a:p>
        </p:txBody>
      </p:sp>
      <p:sp>
        <p:nvSpPr>
          <p:cNvPr id="13" name="bridge-node-3">
            <a:extLst xmlns:a="http://schemas.openxmlformats.org/drawingml/2006/main">
              <a:ext uri="{FF2B5EF4-FFF2-40B4-BE49-F238E27FC236}">
                <a16:creationId xmlns:a16="http://schemas.microsoft.com/office/drawing/2014/main" id="{40D34D42-05DA-4C60-ACFE-4F4A14E5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4905375"/>
            <a:ext cx="3810000" cy="1952625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4" name="bridge-heading-3">
            <a:extLst xmlns:a="http://schemas.openxmlformats.org/drawingml/2006/main">
              <a:ext uri="{FF2B5EF4-FFF2-40B4-BE49-F238E27FC236}">
                <a16:creationId xmlns:a16="http://schemas.microsoft.com/office/drawing/2014/main" id="{F0C08375-A914-4CB2-B18E-C4FBA6BF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5238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5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Hashing Guidance</a:t>
            </a:r>
          </a:p>
        </p:txBody>
      </p:sp>
      <p:sp>
        <p:nvSpPr>
          <p:cNvPr id="15" name="bridge-detail-3">
            <a:extLst xmlns:a="http://schemas.openxmlformats.org/drawingml/2006/main">
              <a:ext uri="{FF2B5EF4-FFF2-40B4-BE49-F238E27FC236}">
                <a16:creationId xmlns:a16="http://schemas.microsoft.com/office/drawing/2014/main" id="{41F837B2-7396-411F-B817-36A4E2AD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590550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Five algorithm entries are explained</a:t>
            </a:r>
          </a:p>
        </p:txBody>
      </p:sp>
      <p:sp>
        <p:nvSpPr>
          <p:cNvPr id="16" name="bridge-arrow-1">
            <a:extLst xmlns:a="http://schemas.openxmlformats.org/drawingml/2006/main">
              <a:ext uri="{FF2B5EF4-FFF2-40B4-BE49-F238E27FC236}">
                <a16:creationId xmlns:a16="http://schemas.microsoft.com/office/drawing/2014/main" id="{7BD9B2FB-DBEB-4334-A0AC-BF937CCA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7150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7" name="bridge-arrow-2">
            <a:extLst xmlns:a="http://schemas.openxmlformats.org/drawingml/2006/main">
              <a:ext uri="{FF2B5EF4-FFF2-40B4-BE49-F238E27FC236}">
                <a16:creationId xmlns:a16="http://schemas.microsoft.com/office/drawing/2014/main" id="{F0EC6E23-BDCB-4AE4-9BE4-8F7DE203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5715000"/>
            <a:ext cx="8572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8" name="bridge-limit">
            <a:extLst xmlns:a="http://schemas.openxmlformats.org/drawingml/2006/main">
              <a:ext uri="{FF2B5EF4-FFF2-40B4-BE49-F238E27FC236}">
                <a16:creationId xmlns:a16="http://schemas.microsoft.com/office/drawing/2014/main" id="{A5FC0324-BE44-4B95-B945-3CCC3378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667625"/>
            <a:ext cx="1466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The result is educational feedback. It does not prove that a password is secure.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260593a7b94cb4">
              <a:extLst>
                <a:ext uri="{96DAC541-7B7A-43D3-8B79-37D633B846F1}">
                  <asvg:svgBlip xmlns:asvg="http://schemas.microsoft.com/office/drawing/2016/SVG/main" r:embed="R14f4c1fd10134ca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1260593a7b94cb4">
              <a:extLst>
                <a:ext uri="{96DAC541-7B7A-43D3-8B79-37D633B846F1}">
                  <asvg:svgBlip xmlns:asvg="http://schemas.microsoft.com/office/drawing/2016/SVG/main" r:embed="R14f4c1fd10134ca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fd2a59c7ef43b5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DE0A8D-5C06-4D4F-AF3F-BB6E29A5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Project Objectives</a:t>
            </a:r>
          </a:p>
        </p:txBody>
      </p:sp>
      <p:sp>
        <p:nvSpPr>
          <p:cNvPr id="6" name="step-01">
            <a:extLst xmlns:a="http://schemas.openxmlformats.org/drawingml/2006/main">
              <a:ext uri="{FF2B5EF4-FFF2-40B4-BE49-F238E27FC236}">
                <a16:creationId xmlns:a16="http://schemas.microsoft.com/office/drawing/2014/main" id="{7D13E21B-06FD-4531-B6A2-A73FD66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01</a:t>
            </a:r>
          </a:p>
        </p:txBody>
      </p:sp>
      <p:sp>
        <p:nvSpPr>
          <p:cNvPr id="7" name="objective-1">
            <a:extLst xmlns:a="http://schemas.openxmlformats.org/drawingml/2006/main">
              <a:ext uri="{FF2B5EF4-FFF2-40B4-BE49-F238E27FC236}">
                <a16:creationId xmlns:a16="http://schemas.microsoft.com/office/drawing/2014/main" id="{E3D6C2CE-BF0E-4A0B-BFA6-B43DB60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000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Analyze password characteristics locally with heuristics.</a:t>
            </a:r>
          </a:p>
        </p:txBody>
      </p:sp>
      <p:sp>
        <p:nvSpPr>
          <p:cNvPr id="8" name="step-02">
            <a:extLst xmlns:a="http://schemas.openxmlformats.org/drawingml/2006/main">
              <a:ext uri="{FF2B5EF4-FFF2-40B4-BE49-F238E27FC236}">
                <a16:creationId xmlns:a16="http://schemas.microsoft.com/office/drawing/2014/main" id="{13A5F675-69CC-42F2-B41D-C1E3EEF4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7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02</a:t>
            </a:r>
          </a:p>
        </p:txBody>
      </p:sp>
      <p:sp>
        <p:nvSpPr>
          <p:cNvPr id="9" name="objective-2">
            <a:extLst xmlns:a="http://schemas.openxmlformats.org/drawingml/2006/main">
              <a:ext uri="{FF2B5EF4-FFF2-40B4-BE49-F238E27FC236}">
                <a16:creationId xmlns:a16="http://schemas.microsoft.com/office/drawing/2014/main" id="{56CBA58C-27B6-4F7E-BDEC-8C3390D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00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Explain Argon2id, bcrypt, scrypt, PBKDF2 and SHA-3.</a:t>
            </a:r>
          </a:p>
        </p:txBody>
      </p:sp>
      <p:sp>
        <p:nvSpPr>
          <p:cNvPr id="10" name="step-03">
            <a:extLst xmlns:a="http://schemas.openxmlformats.org/drawingml/2006/main">
              <a:ext uri="{FF2B5EF4-FFF2-40B4-BE49-F238E27FC236}">
                <a16:creationId xmlns:a16="http://schemas.microsoft.com/office/drawing/2014/main" id="{0D7EA579-47C0-4CF9-A554-1FC6D1A0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03</a:t>
            </a:r>
          </a:p>
        </p:txBody>
      </p:sp>
      <p:sp>
        <p:nvSpPr>
          <p:cNvPr id="11" name="objective-3">
            <a:extLst xmlns:a="http://schemas.openxmlformats.org/drawingml/2006/main">
              <a:ext uri="{FF2B5EF4-FFF2-40B4-BE49-F238E27FC236}">
                <a16:creationId xmlns:a16="http://schemas.microsoft.com/office/drawing/2014/main" id="{7E4B5162-EA3D-44BA-A19E-135225A6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0957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Show educational crack-time estimates when model inputs are supported.</a:t>
            </a:r>
          </a:p>
        </p:txBody>
      </p:sp>
      <p:sp>
        <p:nvSpPr>
          <p:cNvPr id="12" name="step-04">
            <a:extLst xmlns:a="http://schemas.openxmlformats.org/drawingml/2006/main">
              <a:ext uri="{FF2B5EF4-FFF2-40B4-BE49-F238E27FC236}">
                <a16:creationId xmlns:a16="http://schemas.microsoft.com/office/drawing/2014/main" id="{37852CF8-7248-466E-B5A3-8A9432AF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71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04</a:t>
            </a:r>
          </a:p>
        </p:txBody>
      </p:sp>
      <p:sp>
        <p:nvSpPr>
          <p:cNvPr id="13" name="objective-4">
            <a:extLst xmlns:a="http://schemas.openxmlformats.org/drawingml/2006/main">
              <a:ext uri="{FF2B5EF4-FFF2-40B4-BE49-F238E27FC236}">
                <a16:creationId xmlns:a16="http://schemas.microsoft.com/office/drawing/2014/main" id="{A2D90598-4E7D-4FF9-9AD3-6D6407A2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0957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Demonstrate a separate synthetic candidate-index simulation.</a:t>
            </a:r>
          </a:p>
        </p:txBody>
      </p:sp>
      <p:sp>
        <p:nvSpPr>
          <p:cNvPr id="14" name="step-05">
            <a:extLst xmlns:a="http://schemas.openxmlformats.org/drawingml/2006/main">
              <a:ext uri="{FF2B5EF4-FFF2-40B4-BE49-F238E27FC236}">
                <a16:creationId xmlns:a16="http://schemas.microsoft.com/office/drawing/2014/main" id="{B9507004-A5C4-476A-96D3-12CFE3D4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67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05</a:t>
            </a:r>
          </a:p>
        </p:txBody>
      </p:sp>
      <p:sp>
        <p:nvSpPr>
          <p:cNvPr id="15" name="objective-5">
            <a:extLst xmlns:a="http://schemas.openxmlformats.org/drawingml/2006/main">
              <a:ext uri="{FF2B5EF4-FFF2-40B4-BE49-F238E27FC236}">
                <a16:creationId xmlns:a16="http://schemas.microsoft.com/office/drawing/2014/main" id="{4F755422-0E07-4CF2-895B-894D3B1B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912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3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Explain estimate assumptions and benchmark limits.</a:t>
            </a:r>
          </a:p>
        </p:txBody>
      </p:sp>
      <p:sp>
        <p:nvSpPr>
          <p:cNvPr id="16" name="objectives-note">
            <a:extLst xmlns:a="http://schemas.openxmlformats.org/drawingml/2006/main">
              <a:ext uri="{FF2B5EF4-FFF2-40B4-BE49-F238E27FC236}">
                <a16:creationId xmlns:a16="http://schemas.microsoft.com/office/drawing/2014/main" id="{5C8C1C0E-803D-41CA-9AA7-47965D5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239125"/>
            <a:ext cx="1562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Scope: education, transparent assumptions and clear separation between application components.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0271cfaf1c49b6">
              <a:extLst>
                <a:ext uri="{96DAC541-7B7A-43D3-8B79-37D633B846F1}">
                  <asvg:svgBlip xmlns:asvg="http://schemas.microsoft.com/office/drawing/2016/SVG/main" r:embed="R1172e4ff881140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0271cfaf1c49b6">
              <a:extLst>
                <a:ext uri="{96DAC541-7B7A-43D3-8B79-37D633B846F1}">
                  <asvg:svgBlip xmlns:asvg="http://schemas.microsoft.com/office/drawing/2016/SVG/main" r:embed="R1172e4ff881140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f7a02e91cd147ac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51E0D9-D300-4B80-B5C6-666E94E4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Technology Stack and System Architecture</a:t>
            </a:r>
          </a:p>
        </p:txBody>
      </p:sp>
      <p:sp>
        <p:nvSpPr>
          <p:cNvPr id="6" name="stack-line">
            <a:extLst xmlns:a="http://schemas.openxmlformats.org/drawingml/2006/main">
              <a:ext uri="{FF2B5EF4-FFF2-40B4-BE49-F238E27FC236}">
                <a16:creationId xmlns:a16="http://schemas.microsoft.com/office/drawing/2014/main" id="{07923F14-C08C-4386-87E2-107DD35F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28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Java 21, JavaFX 21.0.6, Maven 3.10.0 and JUnit 5.11.4</a:t>
            </a:r>
          </a:p>
        </p:txBody>
      </p:sp>
      <p:sp>
        <p:nvSpPr>
          <p:cNvPr id="7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C9B78F05-26A8-41F8-8343-A4FA5391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8" name="architecture-title-1">
            <a:extLst xmlns:a="http://schemas.openxmlformats.org/drawingml/2006/main">
              <a:ext uri="{FF2B5EF4-FFF2-40B4-BE49-F238E27FC236}">
                <a16:creationId xmlns:a16="http://schemas.microsoft.com/office/drawing/2014/main" id="{1AAECB25-F1BA-4DC4-B578-AE1E39A2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PASSWORD_ENTRY</a:t>
            </a:r>
          </a:p>
        </p:txBody>
      </p:sp>
      <p:sp>
        <p:nvSpPr>
          <p:cNvPr id="9" name="architecture-detail-1">
            <a:extLst xmlns:a="http://schemas.openxmlformats.org/drawingml/2006/main">
              <a:ext uri="{FF2B5EF4-FFF2-40B4-BE49-F238E27FC236}">
                <a16:creationId xmlns:a16="http://schemas.microsoft.com/office/drawing/2014/main" id="{C3429427-D7F1-403D-9365-F6EF8DA9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JavaFX input</a:t>
            </a:r>
          </a:p>
        </p:txBody>
      </p:sp>
      <p:sp>
        <p:nvSpPr>
          <p:cNvPr id="10" name="architecture-arrow-1">
            <a:extLst xmlns:a="http://schemas.openxmlformats.org/drawingml/2006/main">
              <a:ext uri="{FF2B5EF4-FFF2-40B4-BE49-F238E27FC236}">
                <a16:creationId xmlns:a16="http://schemas.microsoft.com/office/drawing/2014/main" id="{BBC637A9-7623-4282-AC3F-C4DE51D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1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42457DE8-73E5-4475-8DFC-3CFF33A7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2" name="architecture-title-2">
            <a:extLst xmlns:a="http://schemas.openxmlformats.org/drawingml/2006/main">
              <a:ext uri="{FF2B5EF4-FFF2-40B4-BE49-F238E27FC236}">
                <a16:creationId xmlns:a16="http://schemas.microsoft.com/office/drawing/2014/main" id="{FA1784B6-A351-4511-99BD-1F738AED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Local PasswordAnalysis</a:t>
            </a:r>
          </a:p>
        </p:txBody>
      </p:sp>
      <p:sp>
        <p:nvSpPr>
          <p:cNvPr id="13" name="architecture-detail-2">
            <a:extLst xmlns:a="http://schemas.openxmlformats.org/drawingml/2006/main">
              <a:ext uri="{FF2B5EF4-FFF2-40B4-BE49-F238E27FC236}">
                <a16:creationId xmlns:a16="http://schemas.microsoft.com/office/drawing/2014/main" id="{7ECF0DEE-CE0B-407E-A014-75FDED43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Character heuristic</a:t>
            </a:r>
          </a:p>
        </p:txBody>
      </p:sp>
      <p:sp>
        <p:nvSpPr>
          <p:cNvPr id="14" name="architecture-arrow-2">
            <a:extLst xmlns:a="http://schemas.openxmlformats.org/drawingml/2006/main">
              <a:ext uri="{FF2B5EF4-FFF2-40B4-BE49-F238E27FC236}">
                <a16:creationId xmlns:a16="http://schemas.microsoft.com/office/drawing/2014/main" id="{295DB847-3587-4CD4-8875-6ECF506A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5" name="architecture-3">
            <a:extLst xmlns:a="http://schemas.openxmlformats.org/drawingml/2006/main">
              <a:ext uri="{FF2B5EF4-FFF2-40B4-BE49-F238E27FC236}">
                <a16:creationId xmlns:a16="http://schemas.microsoft.com/office/drawing/2014/main" id="{BE14632E-9375-4238-BD3C-013DB40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6" name="architecture-title-3">
            <a:extLst xmlns:a="http://schemas.openxmlformats.org/drawingml/2006/main">
              <a:ext uri="{FF2B5EF4-FFF2-40B4-BE49-F238E27FC236}">
                <a16:creationId xmlns:a16="http://schemas.microsoft.com/office/drawing/2014/main" id="{8FA8C62F-6721-4D0F-8A42-0D4A7A35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PROCESSING</a:t>
            </a:r>
          </a:p>
        </p:txBody>
      </p:sp>
      <p:sp>
        <p:nvSpPr>
          <p:cNvPr id="17" name="architecture-detail-3">
            <a:extLst xmlns:a="http://schemas.openxmlformats.org/drawingml/2006/main">
              <a:ext uri="{FF2B5EF4-FFF2-40B4-BE49-F238E27FC236}">
                <a16:creationId xmlns:a16="http://schemas.microsoft.com/office/drawing/2014/main" id="{F00E9BFF-E7F0-4145-8353-E5F7EA54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Synthetic index simulation</a:t>
            </a:r>
          </a:p>
        </p:txBody>
      </p:sp>
      <p:sp>
        <p:nvSpPr>
          <p:cNvPr id="18" name="architecture-arrow-3">
            <a:extLst xmlns:a="http://schemas.openxmlformats.org/drawingml/2006/main">
              <a:ext uri="{FF2B5EF4-FFF2-40B4-BE49-F238E27FC236}">
                <a16:creationId xmlns:a16="http://schemas.microsoft.com/office/drawing/2014/main" id="{D9F8A412-6256-4E4B-B8D8-5D38745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4105275"/>
            <a:ext cx="5334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9" name="architecture-4">
            <a:extLst xmlns:a="http://schemas.openxmlformats.org/drawingml/2006/main">
              <a:ext uri="{FF2B5EF4-FFF2-40B4-BE49-F238E27FC236}">
                <a16:creationId xmlns:a16="http://schemas.microsoft.com/office/drawing/2014/main" id="{74F0188D-CCAD-416D-A0B1-14440B67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3429000"/>
            <a:ext cx="3667125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0" name="architecture-title-4">
            <a:extLst xmlns:a="http://schemas.openxmlformats.org/drawingml/2006/main">
              <a:ext uri="{FF2B5EF4-FFF2-40B4-BE49-F238E27FC236}">
                <a16:creationId xmlns:a16="http://schemas.microsoft.com/office/drawing/2014/main" id="{60BE4D43-ABD9-48B0-91C5-1B2AC4EA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575" y="3714750"/>
            <a:ext cx="33242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1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FINAL_RESULT</a:t>
            </a:r>
          </a:p>
        </p:txBody>
      </p:sp>
      <p:sp>
        <p:nvSpPr>
          <p:cNvPr id="21" name="architecture-detail-4">
            <a:extLst xmlns:a="http://schemas.openxmlformats.org/drawingml/2006/main">
              <a:ext uri="{FF2B5EF4-FFF2-40B4-BE49-F238E27FC236}">
                <a16:creationId xmlns:a16="http://schemas.microsoft.com/office/drawing/2014/main" id="{D34CE6E0-1017-4442-86B5-E8EB3C84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4333875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Analysis and guidance</a:t>
            </a:r>
          </a:p>
        </p:txBody>
      </p:sp>
      <p:sp>
        <p:nvSpPr>
          <p:cNvPr id="22" name="result-lanes-title">
            <a:extLst xmlns:a="http://schemas.openxmlformats.org/drawingml/2006/main">
              <a:ext uri="{FF2B5EF4-FFF2-40B4-BE49-F238E27FC236}">
                <a16:creationId xmlns:a16="http://schemas.microsoft.com/office/drawing/2014/main" id="{C169C756-AF84-4255-9128-82280B6B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10250"/>
            <a:ext cx="1428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FINAL_RESULT contains</a:t>
            </a:r>
          </a:p>
        </p:txBody>
      </p:sp>
      <p:sp>
        <p:nvSpPr>
          <p:cNvPr id="23" name="strength-lane">
            <a:extLst xmlns:a="http://schemas.openxmlformats.org/drawingml/2006/main">
              <a:ext uri="{FF2B5EF4-FFF2-40B4-BE49-F238E27FC236}">
                <a16:creationId xmlns:a16="http://schemas.microsoft.com/office/drawing/2014/main" id="{F0EA1C51-6AC8-4CE7-AC66-65B4A5A5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572250"/>
            <a:ext cx="561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4" name="strength-lane-text">
            <a:extLst xmlns:a="http://schemas.openxmlformats.org/drawingml/2006/main">
              <a:ext uri="{FF2B5EF4-FFF2-40B4-BE49-F238E27FC236}">
                <a16:creationId xmlns:a16="http://schemas.microsoft.com/office/drawing/2014/main" id="{537BFA31-6730-4888-860E-7933C9AB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810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 Strength Analysis</a:t>
            </a:r>
          </a:p>
        </p:txBody>
      </p:sp>
      <p:sp>
        <p:nvSpPr>
          <p:cNvPr id="25" name="algorithm-lane">
            <a:extLst xmlns:a="http://schemas.openxmlformats.org/drawingml/2006/main">
              <a:ext uri="{FF2B5EF4-FFF2-40B4-BE49-F238E27FC236}">
                <a16:creationId xmlns:a16="http://schemas.microsoft.com/office/drawing/2014/main" id="{42725212-8496-4A9B-B96D-8139858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572250"/>
            <a:ext cx="561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6" name="algorithm-lane-text">
            <a:extLst xmlns:a="http://schemas.openxmlformats.org/drawingml/2006/main">
              <a:ext uri="{FF2B5EF4-FFF2-40B4-BE49-F238E27FC236}">
                <a16:creationId xmlns:a16="http://schemas.microsoft.com/office/drawing/2014/main" id="{CDF975A2-7414-4154-981C-2025556A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810375"/>
            <a:ext cx="514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Hashing Algorithm Analysis</a:t>
            </a:r>
          </a:p>
        </p:txBody>
      </p:sp>
      <p:sp>
        <p:nvSpPr>
          <p:cNvPr id="27" name="estimator-separation">
            <a:extLst xmlns:a="http://schemas.openxmlformats.org/drawingml/2006/main">
              <a:ext uri="{FF2B5EF4-FFF2-40B4-BE49-F238E27FC236}">
                <a16:creationId xmlns:a16="http://schemas.microsoft.com/office/drawing/2014/main" id="{19924E5A-4479-4BC6-99EF-64A25A1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191500"/>
            <a:ext cx="1543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The educational crack-time estimator uses heuristic inputs and project-defined rates. Simulation throughput does not feed the estimator.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a32b1aa853478b">
              <a:extLst>
                <a:ext uri="{96DAC541-7B7A-43D3-8B79-37D633B846F1}">
                  <asvg:svgBlip xmlns:asvg="http://schemas.microsoft.com/office/drawing/2016/SVG/main" r:embed="Ra4f7ae0d66d54f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4a32b1aa853478b">
              <a:extLst>
                <a:ext uri="{96DAC541-7B7A-43D3-8B79-37D633B846F1}">
                  <asvg:svgBlip xmlns:asvg="http://schemas.microsoft.com/office/drawing/2016/SVG/main" r:embed="Ra4f7ae0d66d54f5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84f8d92b8784616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64F708-B057-4ADF-A5F4-76C48972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Three-State Workflow</a:t>
            </a:r>
          </a:p>
        </p:txBody>
      </p:sp>
      <p:sp>
        <p:nvSpPr>
          <p:cNvPr id="6" name="state-1">
            <a:extLst xmlns:a="http://schemas.openxmlformats.org/drawingml/2006/main">
              <a:ext uri="{FF2B5EF4-FFF2-40B4-BE49-F238E27FC236}">
                <a16:creationId xmlns:a16="http://schemas.microsoft.com/office/drawing/2014/main" id="{FA837EE0-F54A-4185-99A1-C460310E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14791795-A2EC-480B-AFC7-2AFC95EE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1</a:t>
            </a:r>
          </a:p>
        </p:txBody>
      </p:sp>
      <p:sp>
        <p:nvSpPr>
          <p:cNvPr id="8" name="state-name-1">
            <a:extLst xmlns:a="http://schemas.openxmlformats.org/drawingml/2006/main">
              <a:ext uri="{FF2B5EF4-FFF2-40B4-BE49-F238E27FC236}">
                <a16:creationId xmlns:a16="http://schemas.microsoft.com/office/drawing/2014/main" id="{AE563A13-A5DF-4B2B-B3F5-E84D4ECE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PASSWORD_ENTRY</a:t>
            </a:r>
          </a:p>
        </p:txBody>
      </p:sp>
      <p:sp>
        <p:nvSpPr>
          <p:cNvPr id="9" name="state-detail-1">
            <a:extLst xmlns:a="http://schemas.openxmlformats.org/drawingml/2006/main">
              <a:ext uri="{FF2B5EF4-FFF2-40B4-BE49-F238E27FC236}">
                <a16:creationId xmlns:a16="http://schemas.microsoft.com/office/drawing/2014/main" id="{8A276D39-D497-41C6-BA47-CB76BCD7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The user submits a password for local heuristic analysis.</a:t>
            </a:r>
          </a:p>
        </p:txBody>
      </p:sp>
      <p:sp>
        <p:nvSpPr>
          <p:cNvPr id="10" name="state-2">
            <a:extLst xmlns:a="http://schemas.openxmlformats.org/drawingml/2006/main">
              <a:ext uri="{FF2B5EF4-FFF2-40B4-BE49-F238E27FC236}">
                <a16:creationId xmlns:a16="http://schemas.microsoft.com/office/drawing/2014/main" id="{D2907A40-44D3-4CD3-9D44-C961FEA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EF1A5B7F-D86F-4607-8B2C-1ED782DB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2</a:t>
            </a:r>
          </a:p>
        </p:txBody>
      </p:sp>
      <p:sp>
        <p:nvSpPr>
          <p:cNvPr id="12" name="state-name-2">
            <a:extLst xmlns:a="http://schemas.openxmlformats.org/drawingml/2006/main">
              <a:ext uri="{FF2B5EF4-FFF2-40B4-BE49-F238E27FC236}">
                <a16:creationId xmlns:a16="http://schemas.microsoft.com/office/drawing/2014/main" id="{4CFB49A9-7A13-47B1-8138-5BE0D8E5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PROCESSING</a:t>
            </a:r>
          </a:p>
        </p:txBody>
      </p:sp>
      <p:sp>
        <p:nvSpPr>
          <p:cNvPr id="13" name="state-detail-2">
            <a:extLst xmlns:a="http://schemas.openxmlformats.org/drawingml/2006/main">
              <a:ext uri="{FF2B5EF4-FFF2-40B4-BE49-F238E27FC236}">
                <a16:creationId xmlns:a16="http://schemas.microsoft.com/office/drawing/2014/main" id="{59B0C873-4F28-4046-A668-560326DF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 separate synthetic candidate-index simulation runs with logical simulation agents.</a:t>
            </a:r>
          </a:p>
        </p:txBody>
      </p:sp>
      <p:sp>
        <p:nvSpPr>
          <p:cNvPr id="14" name="state-3">
            <a:extLst xmlns:a="http://schemas.openxmlformats.org/drawingml/2006/main">
              <a:ext uri="{FF2B5EF4-FFF2-40B4-BE49-F238E27FC236}">
                <a16:creationId xmlns:a16="http://schemas.microsoft.com/office/drawing/2014/main" id="{0112EDA4-EC07-45EE-A135-87C7EE94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81375"/>
            <a:ext cx="3810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ABDFD276-12D4-4F69-A6E0-5125096E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3714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3</a:t>
            </a:r>
          </a:p>
        </p:txBody>
      </p:sp>
      <p:sp>
        <p:nvSpPr>
          <p:cNvPr id="16" name="state-name-3">
            <a:extLst xmlns:a="http://schemas.openxmlformats.org/drawingml/2006/main">
              <a:ext uri="{FF2B5EF4-FFF2-40B4-BE49-F238E27FC236}">
                <a16:creationId xmlns:a16="http://schemas.microsoft.com/office/drawing/2014/main" id="{D3BF0C50-8BEF-4DCB-9B76-7E16EC1A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7875" y="45720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FINAL_RESULT</a:t>
            </a:r>
          </a:p>
        </p:txBody>
      </p:sp>
      <p:sp>
        <p:nvSpPr>
          <p:cNvPr id="17" name="state-detail-3">
            <a:extLst xmlns:a="http://schemas.openxmlformats.org/drawingml/2006/main">
              <a:ext uri="{FF2B5EF4-FFF2-40B4-BE49-F238E27FC236}">
                <a16:creationId xmlns:a16="http://schemas.microsoft.com/office/drawing/2014/main" id="{D108FCF2-1C52-42CF-AD7D-B0C6821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5238750"/>
            <a:ext cx="3124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Heuristic analysis and five algorithm cards show estimates or clear statuses.</a:t>
            </a:r>
          </a:p>
        </p:txBody>
      </p:sp>
      <p:sp>
        <p:nvSpPr>
          <p:cNvPr id="18" name="state-arrow-1">
            <a:extLst xmlns:a="http://schemas.openxmlformats.org/drawingml/2006/main">
              <a:ext uri="{FF2B5EF4-FFF2-40B4-BE49-F238E27FC236}">
                <a16:creationId xmlns:a16="http://schemas.microsoft.com/office/drawing/2014/main" id="{C2C16B8A-CD6B-4DAF-B238-2D5FF4C6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1285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19" name="state-arrow-2">
            <a:extLst xmlns:a="http://schemas.openxmlformats.org/drawingml/2006/main">
              <a:ext uri="{FF2B5EF4-FFF2-40B4-BE49-F238E27FC236}">
                <a16:creationId xmlns:a16="http://schemas.microsoft.com/office/drawing/2014/main" id="{42AE8A68-632F-4685-98B1-65882320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4810125"/>
            <a:ext cx="1285875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</p:sp>
      <p:sp>
        <p:nvSpPr>
          <p:cNvPr id="20" name="state-boundary">
            <a:extLst xmlns:a="http://schemas.openxmlformats.org/drawingml/2006/main">
              <a:ext uri="{FF2B5EF4-FFF2-40B4-BE49-F238E27FC236}">
                <a16:creationId xmlns:a16="http://schemas.microsoft.com/office/drawing/2014/main" id="{9FDD55DA-68A1-4C53-B441-3F33233D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620000"/>
            <a:ext cx="1504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The simulation uses synthetic indexes. It does not hash or crack the submitted password.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4008ffbdf8409d">
              <a:extLst>
                <a:ext uri="{96DAC541-7B7A-43D3-8B79-37D633B846F1}">
                  <asvg:svgBlip xmlns:asvg="http://schemas.microsoft.com/office/drawing/2016/SVG/main" r:embed="R5722c16646f644c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34008ffbdf8409d">
              <a:extLst>
                <a:ext uri="{96DAC541-7B7A-43D3-8B79-37D633B846F1}">
                  <asvg:svgBlip xmlns:asvg="http://schemas.microsoft.com/office/drawing/2016/SVG/main" r:embed="R5722c16646f644c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d622e70a66a470d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4F1EF3-6747-4949-AE80-69E9768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Password Strength Analysis</a:t>
            </a:r>
          </a:p>
        </p:txBody>
      </p:sp>
      <p:sp>
        <p:nvSpPr>
          <p:cNvPr id="6" name="heuristic-intro">
            <a:extLst xmlns:a="http://schemas.openxmlformats.org/drawingml/2006/main">
              <a:ext uri="{FF2B5EF4-FFF2-40B4-BE49-F238E27FC236}">
                <a16:creationId xmlns:a16="http://schemas.microsoft.com/office/drawing/2014/main" id="{80E187D3-D8A3-4AB0-8A4A-D87E093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1600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The local heuristic considers length and character classes to produce a strength assessment and recommendations.</a:t>
            </a:r>
          </a:p>
        </p:txBody>
      </p:sp>
      <p:sp>
        <p:nvSpPr>
          <p:cNvPr id="7" name="feature-index-1">
            <a:extLst xmlns:a="http://schemas.openxmlformats.org/drawingml/2006/main">
              <a:ext uri="{FF2B5EF4-FFF2-40B4-BE49-F238E27FC236}">
                <a16:creationId xmlns:a16="http://schemas.microsoft.com/office/drawing/2014/main" id="{2634EF56-AD3D-4A5C-984C-7CF7384E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337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01</a:t>
            </a:r>
          </a:p>
        </p:txBody>
      </p:sp>
      <p:sp>
        <p:nvSpPr>
          <p:cNvPr id="8" name="feature-name-1">
            <a:extLst xmlns:a="http://schemas.openxmlformats.org/drawingml/2006/main">
              <a:ext uri="{FF2B5EF4-FFF2-40B4-BE49-F238E27FC236}">
                <a16:creationId xmlns:a16="http://schemas.microsoft.com/office/drawing/2014/main" id="{033BF5DA-0CAE-499B-9E63-E49F7575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33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Length</a:t>
            </a:r>
          </a:p>
        </p:txBody>
      </p:sp>
      <p:sp>
        <p:nvSpPr>
          <p:cNvPr id="9" name="feature-description-1">
            <a:extLst xmlns:a="http://schemas.openxmlformats.org/drawingml/2006/main">
              <a:ext uri="{FF2B5EF4-FFF2-40B4-BE49-F238E27FC236}">
                <a16:creationId xmlns:a16="http://schemas.microsoft.com/office/drawing/2014/main" id="{682FC2C8-42CC-4872-B5C2-E430DD88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24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Number of characters</a:t>
            </a:r>
          </a:p>
        </p:txBody>
      </p:sp>
      <p:sp>
        <p:nvSpPr>
          <p:cNvPr id="10" name="feature-index-2">
            <a:extLst xmlns:a="http://schemas.openxmlformats.org/drawingml/2006/main">
              <a:ext uri="{FF2B5EF4-FFF2-40B4-BE49-F238E27FC236}">
                <a16:creationId xmlns:a16="http://schemas.microsoft.com/office/drawing/2014/main" id="{266CCEE3-038D-44F1-8D41-7372EDA0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02</a:t>
            </a:r>
          </a:p>
        </p:txBody>
      </p:sp>
      <p:sp>
        <p:nvSpPr>
          <p:cNvPr id="11" name="feature-name-2">
            <a:extLst xmlns:a="http://schemas.openxmlformats.org/drawingml/2006/main">
              <a:ext uri="{FF2B5EF4-FFF2-40B4-BE49-F238E27FC236}">
                <a16:creationId xmlns:a16="http://schemas.microsoft.com/office/drawing/2014/main" id="{87A94813-50F9-4D3E-A3DA-926D96B3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Lowercase and uppercase</a:t>
            </a:r>
          </a:p>
        </p:txBody>
      </p:sp>
      <p:sp>
        <p:nvSpPr>
          <p:cNvPr id="12" name="feature-description-2">
            <a:extLst xmlns:a="http://schemas.openxmlformats.org/drawingml/2006/main">
              <a:ext uri="{FF2B5EF4-FFF2-40B4-BE49-F238E27FC236}">
                <a16:creationId xmlns:a16="http://schemas.microsoft.com/office/drawing/2014/main" id="{804C2486-7F94-450B-8F74-AC7A5530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letter classes</a:t>
            </a:r>
          </a:p>
        </p:txBody>
      </p:sp>
      <p:sp>
        <p:nvSpPr>
          <p:cNvPr id="13" name="feature-index-3">
            <a:extLst xmlns:a="http://schemas.openxmlformats.org/drawingml/2006/main">
              <a:ext uri="{FF2B5EF4-FFF2-40B4-BE49-F238E27FC236}">
                <a16:creationId xmlns:a16="http://schemas.microsoft.com/office/drawing/2014/main" id="{FD5A53A6-13E2-466F-8CAF-B1CA78F2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435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03</a:t>
            </a:r>
          </a:p>
        </p:txBody>
      </p:sp>
      <p:sp>
        <p:nvSpPr>
          <p:cNvPr id="14" name="feature-name-3">
            <a:extLst xmlns:a="http://schemas.openxmlformats.org/drawingml/2006/main">
              <a:ext uri="{FF2B5EF4-FFF2-40B4-BE49-F238E27FC236}">
                <a16:creationId xmlns:a16="http://schemas.microsoft.com/office/drawing/2014/main" id="{B23FF33D-E9BC-425B-9C9E-72BD2F5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43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Digits</a:t>
            </a:r>
          </a:p>
        </p:txBody>
      </p:sp>
      <p:sp>
        <p:nvSpPr>
          <p:cNvPr id="15" name="feature-description-3">
            <a:extLst xmlns:a="http://schemas.openxmlformats.org/drawingml/2006/main">
              <a:ext uri="{FF2B5EF4-FFF2-40B4-BE49-F238E27FC236}">
                <a16:creationId xmlns:a16="http://schemas.microsoft.com/office/drawing/2014/main" id="{76DDCEF1-A687-43AB-9F93-47222BCF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34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numeric characters</a:t>
            </a:r>
          </a:p>
        </p:txBody>
      </p:sp>
      <p:sp>
        <p:nvSpPr>
          <p:cNvPr id="16" name="feature-index-4">
            <a:extLst xmlns:a="http://schemas.openxmlformats.org/drawingml/2006/main">
              <a:ext uri="{FF2B5EF4-FFF2-40B4-BE49-F238E27FC236}">
                <a16:creationId xmlns:a16="http://schemas.microsoft.com/office/drawing/2014/main" id="{2091BBD7-E7FB-4603-B22B-9A3AB93B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43500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255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04</a:t>
            </a:r>
          </a:p>
        </p:txBody>
      </p:sp>
      <p:sp>
        <p:nvSpPr>
          <p:cNvPr id="17" name="feature-name-4">
            <a:extLst xmlns:a="http://schemas.openxmlformats.org/drawingml/2006/main">
              <a:ext uri="{FF2B5EF4-FFF2-40B4-BE49-F238E27FC236}">
                <a16:creationId xmlns:a16="http://schemas.microsoft.com/office/drawing/2014/main" id="{67C8DA73-3891-419A-8F18-9FA2DF67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143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Symbols</a:t>
            </a:r>
          </a:p>
        </p:txBody>
      </p:sp>
      <p:sp>
        <p:nvSpPr>
          <p:cNvPr id="18" name="feature-description-4">
            <a:extLst xmlns:a="http://schemas.openxmlformats.org/drawingml/2006/main">
              <a:ext uri="{FF2B5EF4-FFF2-40B4-BE49-F238E27FC236}">
                <a16:creationId xmlns:a16="http://schemas.microsoft.com/office/drawing/2014/main" id="{2533540B-DC86-43DE-B5EC-99FF7B1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Presence of non-alphanumeric characters</a:t>
            </a:r>
          </a:p>
        </p:txBody>
      </p:sp>
      <p:sp>
        <p:nvSpPr>
          <p:cNvPr id="19" name="heuristic-limit-box">
            <a:extLst xmlns:a="http://schemas.openxmlformats.org/drawingml/2006/main">
              <a:ext uri="{FF2B5EF4-FFF2-40B4-BE49-F238E27FC236}">
                <a16:creationId xmlns:a16="http://schemas.microsoft.com/office/drawing/2014/main" id="{1405343F-FEF8-4BF2-BB16-644429D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477125"/>
            <a:ext cx="15621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0" name="heuristic-limit-label">
            <a:extLst xmlns:a="http://schemas.openxmlformats.org/drawingml/2006/main">
              <a:ext uri="{FF2B5EF4-FFF2-40B4-BE49-F238E27FC236}">
                <a16:creationId xmlns:a16="http://schemas.microsoft.com/office/drawing/2014/main" id="{DC70108C-1DB6-4156-B07C-C5746748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734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0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LIMITS</a:t>
            </a:r>
          </a:p>
        </p:txBody>
      </p:sp>
      <p:sp>
        <p:nvSpPr>
          <p:cNvPr id="21" name="heuristic-limit-copy">
            <a:extLst xmlns:a="http://schemas.openxmlformats.org/drawingml/2006/main">
              <a:ext uri="{FF2B5EF4-FFF2-40B4-BE49-F238E27FC236}">
                <a16:creationId xmlns:a16="http://schemas.microsoft.com/office/drawing/2014/main" id="{AC38D1AF-D449-4FE1-9C2D-2F3501F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639050"/>
            <a:ext cx="13049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0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Heuristic feedback is not true entropy. It does not check breached-password databases, password reuse or dictionary membership, and it cannot prove a password is secure.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8781995b2044c9">
              <a:extLst>
                <a:ext uri="{96DAC541-7B7A-43D3-8B79-37D633B846F1}">
                  <asvg:svgBlip xmlns:asvg="http://schemas.microsoft.com/office/drawing/2016/SVG/main" r:embed="R4cdae942a8ae4d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8781995b2044c9">
              <a:extLst>
                <a:ext uri="{96DAC541-7B7A-43D3-8B79-37D633B846F1}">
                  <asvg:svgBlip xmlns:asvg="http://schemas.microsoft.com/office/drawing/2016/SVG/main" r:embed="R4cdae942a8ae4d3f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61dc6ab9d7b48b7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6B1E76-B90E-4717-BBB3-EE3229EE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Five Algorithm Entries and Educational Estimates</a:t>
            </a:r>
          </a:p>
        </p:txBody>
      </p:sp>
      <p:sp>
        <p:nvSpPr>
          <p:cNvPr id="6" name="estimate-intro">
            <a:extLst xmlns:a="http://schemas.openxmlformats.org/drawingml/2006/main">
              <a:ext uri="{FF2B5EF4-FFF2-40B4-BE49-F238E27FC236}">
                <a16:creationId xmlns:a16="http://schemas.microsoft.com/office/drawing/2014/main" id="{232E62D7-1EF3-4EDF-BB1E-06FC7CB8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81125"/>
            <a:ext cx="1590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 simplified candidate-space model uses project-authored illustrative offline rates.</a:t>
            </a:r>
          </a:p>
        </p:txBody>
      </p:sp>
      <p:sp>
        <p:nvSpPr>
          <p:cNvPr id="7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9095AA6B-4273-477F-B3BE-FA604FB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ALGORITHM</a:t>
            </a:r>
          </a:p>
        </p:txBody>
      </p:sp>
      <p:sp>
        <p:nvSpPr>
          <p:cNvPr id="8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E0C4DF19-3CC7-4FE9-A70B-7A58E9D6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38375"/>
            <a:ext cx="800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ROLE IN THE GUIDANCE</a:t>
            </a:r>
          </a:p>
        </p:txBody>
      </p:sp>
      <p:sp>
        <p:nvSpPr>
          <p:cNvPr id="9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DF5A3608-826C-4270-8C01-D6D89887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6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EDUCATIONAL MODEL INPUT</a:t>
            </a:r>
          </a:p>
        </p:txBody>
      </p:sp>
      <p:sp>
        <p:nvSpPr>
          <p:cNvPr id="10" name="algorithm-row-1">
            <a:extLst xmlns:a="http://schemas.openxmlformats.org/drawingml/2006/main">
              <a:ext uri="{FF2B5EF4-FFF2-40B4-BE49-F238E27FC236}">
                <a16:creationId xmlns:a16="http://schemas.microsoft.com/office/drawing/2014/main" id="{E8F053DC-944D-4DE1-AA0F-AC3A7EE5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1" name="algorithm-name-1">
            <a:extLst xmlns:a="http://schemas.openxmlformats.org/drawingml/2006/main">
              <a:ext uri="{FF2B5EF4-FFF2-40B4-BE49-F238E27FC236}">
                <a16:creationId xmlns:a16="http://schemas.microsoft.com/office/drawing/2014/main" id="{D0CC28F8-C0C9-46BD-BEF1-42B68C6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Argon2id</a:t>
            </a:r>
          </a:p>
        </p:txBody>
      </p:sp>
      <p:sp>
        <p:nvSpPr>
          <p:cNvPr id="12" name="algorithm-role-1">
            <a:extLst xmlns:a="http://schemas.openxmlformats.org/drawingml/2006/main">
              <a:ext uri="{FF2B5EF4-FFF2-40B4-BE49-F238E27FC236}">
                <a16:creationId xmlns:a16="http://schemas.microsoft.com/office/drawing/2014/main" id="{9EF1D0C6-0905-47FD-A3E7-62463AAD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337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Memory-hard password hashing; a recommended educational starting point.</a:t>
            </a:r>
          </a:p>
        </p:txBody>
      </p:sp>
      <p:sp>
        <p:nvSpPr>
          <p:cNvPr id="13" name="algorithm-rate-1">
            <a:extLst xmlns:a="http://schemas.openxmlformats.org/drawingml/2006/main">
              <a:ext uri="{FF2B5EF4-FFF2-40B4-BE49-F238E27FC236}">
                <a16:creationId xmlns:a16="http://schemas.microsoft.com/office/drawing/2014/main" id="{6224243B-8E55-4622-9D39-FCE98B97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9241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v1.3 · 65,536 KiB · t=3 · p=1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10 guesses/second</a:t>
            </a:r>
          </a:p>
        </p:txBody>
      </p:sp>
      <p:sp>
        <p:nvSpPr>
          <p:cNvPr id="14" name="algorithm-row-2">
            <a:extLst xmlns:a="http://schemas.openxmlformats.org/drawingml/2006/main">
              <a:ext uri="{FF2B5EF4-FFF2-40B4-BE49-F238E27FC236}">
                <a16:creationId xmlns:a16="http://schemas.microsoft.com/office/drawing/2014/main" id="{32E5570F-59EA-4708-B42A-00A1EB6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5" name="algorithm-name-2">
            <a:extLst xmlns:a="http://schemas.openxmlformats.org/drawingml/2006/main">
              <a:ext uri="{FF2B5EF4-FFF2-40B4-BE49-F238E27FC236}">
                <a16:creationId xmlns:a16="http://schemas.microsoft.com/office/drawing/2014/main" id="{0E7B83EE-EEE1-481B-BAA4-EBC4FDD9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814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bcrypt</a:t>
            </a:r>
          </a:p>
        </p:txBody>
      </p:sp>
      <p:sp>
        <p:nvSpPr>
          <p:cNvPr id="16" name="algorithm-role-2">
            <a:extLst xmlns:a="http://schemas.openxmlformats.org/drawingml/2006/main">
              <a:ext uri="{FF2B5EF4-FFF2-40B4-BE49-F238E27FC236}">
                <a16:creationId xmlns:a16="http://schemas.microsoft.com/office/drawing/2014/main" id="{7821276E-9733-4EDD-94C1-15359A35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Adaptive password hashing.</a:t>
            </a:r>
          </a:p>
        </p:txBody>
      </p:sp>
      <p:sp>
        <p:nvSpPr>
          <p:cNvPr id="17" name="algorithm-rate-2">
            <a:extLst xmlns:a="http://schemas.openxmlformats.org/drawingml/2006/main">
              <a:ext uri="{FF2B5EF4-FFF2-40B4-BE49-F238E27FC236}">
                <a16:creationId xmlns:a16="http://schemas.microsoft.com/office/drawing/2014/main" id="{DBB4A677-D5D5-4006-B4F4-5F3BBA23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93382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2b · cost 12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10 guesses/second</a:t>
            </a:r>
          </a:p>
        </p:txBody>
      </p:sp>
      <p:sp>
        <p:nvSpPr>
          <p:cNvPr id="18" name="algorithm-row-3">
            <a:extLst xmlns:a="http://schemas.openxmlformats.org/drawingml/2006/main">
              <a:ext uri="{FF2B5EF4-FFF2-40B4-BE49-F238E27FC236}">
                <a16:creationId xmlns:a16="http://schemas.microsoft.com/office/drawing/2014/main" id="{3CAC4C6D-70FE-4A53-8A49-4583DE8C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9" name="algorithm-name-3">
            <a:extLst xmlns:a="http://schemas.openxmlformats.org/drawingml/2006/main">
              <a:ext uri="{FF2B5EF4-FFF2-40B4-BE49-F238E27FC236}">
                <a16:creationId xmlns:a16="http://schemas.microsoft.com/office/drawing/2014/main" id="{DEB02730-2924-41FE-95C4-ED18D1D2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911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scrypt</a:t>
            </a:r>
          </a:p>
        </p:txBody>
      </p:sp>
      <p:sp>
        <p:nvSpPr>
          <p:cNvPr id="20" name="algorithm-role-3">
            <a:extLst xmlns:a="http://schemas.openxmlformats.org/drawingml/2006/main">
              <a:ext uri="{FF2B5EF4-FFF2-40B4-BE49-F238E27FC236}">
                <a16:creationId xmlns:a16="http://schemas.microsoft.com/office/drawing/2014/main" id="{0FB8B7DD-E01F-44CF-B661-1A6FE036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530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Memory-hard password-based key derivation.</a:t>
            </a:r>
          </a:p>
        </p:txBody>
      </p:sp>
      <p:sp>
        <p:nvSpPr>
          <p:cNvPr id="21" name="algorithm-rate-3">
            <a:extLst xmlns:a="http://schemas.openxmlformats.org/drawingml/2006/main">
              <a:ext uri="{FF2B5EF4-FFF2-40B4-BE49-F238E27FC236}">
                <a16:creationId xmlns:a16="http://schemas.microsoft.com/office/drawing/2014/main" id="{1813F00E-5878-4152-B9BA-7F698F76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9434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N=131,072 · r=8 · p=1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5 guesses/second</a:t>
            </a:r>
          </a:p>
        </p:txBody>
      </p:sp>
      <p:sp>
        <p:nvSpPr>
          <p:cNvPr id="22" name="algorithm-row-4">
            <a:extLst xmlns:a="http://schemas.openxmlformats.org/drawingml/2006/main">
              <a:ext uri="{FF2B5EF4-FFF2-40B4-BE49-F238E27FC236}">
                <a16:creationId xmlns:a16="http://schemas.microsoft.com/office/drawing/2014/main" id="{D4F2DC28-3950-4DB8-A568-F9A797C3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3" name="algorithm-name-4">
            <a:extLst xmlns:a="http://schemas.openxmlformats.org/drawingml/2006/main">
              <a:ext uri="{FF2B5EF4-FFF2-40B4-BE49-F238E27FC236}">
                <a16:creationId xmlns:a16="http://schemas.microsoft.com/office/drawing/2014/main" id="{B02016D6-E477-4414-88CE-7021FACC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PBKDF2</a:t>
            </a:r>
          </a:p>
        </p:txBody>
      </p:sp>
      <p:sp>
        <p:nvSpPr>
          <p:cNvPr id="24" name="algorithm-role-4">
            <a:extLst xmlns:a="http://schemas.openxmlformats.org/drawingml/2006/main">
              <a:ext uri="{FF2B5EF4-FFF2-40B4-BE49-F238E27FC236}">
                <a16:creationId xmlns:a16="http://schemas.microsoft.com/office/drawing/2014/main" id="{589CFAA7-1D18-4580-95E5-15B58D6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6265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Password-based key derivation.</a:t>
            </a:r>
          </a:p>
        </p:txBody>
      </p:sp>
      <p:sp>
        <p:nvSpPr>
          <p:cNvPr id="25" name="algorithm-rate-4">
            <a:extLst xmlns:a="http://schemas.openxmlformats.org/drawingml/2006/main">
              <a:ext uri="{FF2B5EF4-FFF2-40B4-BE49-F238E27FC236}">
                <a16:creationId xmlns:a16="http://schemas.microsoft.com/office/drawing/2014/main" id="{43DFBC47-7B5F-44C2-9B5B-87BBBEEA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5312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HMAC-SHA-256 · 600,000 iterations</a:t>
            </a:r>
          </a:p>
          <a:p xmlns:a="http://schemas.openxmlformats.org/drawingml/2006/main">
            <a:pPr algn="l">
              <a:def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72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50 guesses/second</a:t>
            </a:r>
          </a:p>
        </p:txBody>
      </p:sp>
      <p:sp>
        <p:nvSpPr>
          <p:cNvPr id="26" name="algorithm-row-5">
            <a:extLst xmlns:a="http://schemas.openxmlformats.org/drawingml/2006/main">
              <a:ext uri="{FF2B5EF4-FFF2-40B4-BE49-F238E27FC236}">
                <a16:creationId xmlns:a16="http://schemas.microsoft.com/office/drawing/2014/main" id="{5786001B-62BB-4E37-B8ED-92F46D9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96100"/>
            <a:ext cx="16954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27" name="algorithm-name-5">
            <a:extLst xmlns:a="http://schemas.openxmlformats.org/drawingml/2006/main">
              <a:ext uri="{FF2B5EF4-FFF2-40B4-BE49-F238E27FC236}">
                <a16:creationId xmlns:a16="http://schemas.microsoft.com/office/drawing/2014/main" id="{D576BBE2-62B0-498D-8CC6-8D0EEB0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70104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0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SHA-3</a:t>
            </a:r>
          </a:p>
        </p:txBody>
      </p:sp>
      <p:sp>
        <p:nvSpPr>
          <p:cNvPr id="28" name="algorithm-role-5">
            <a:extLst xmlns:a="http://schemas.openxmlformats.org/drawingml/2006/main">
              <a:ext uri="{FF2B5EF4-FFF2-40B4-BE49-F238E27FC236}">
                <a16:creationId xmlns:a16="http://schemas.microsoft.com/office/drawing/2014/main" id="{DCBF3ED0-85CE-4FE2-BFDC-EAB12911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972300"/>
            <a:ext cx="7772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No concrete password KDF is specified in this entry.</a:t>
            </a:r>
          </a:p>
        </p:txBody>
      </p:sp>
      <p:sp>
        <p:nvSpPr>
          <p:cNvPr id="29" name="algorithm-rate-5">
            <a:extLst xmlns:a="http://schemas.openxmlformats.org/drawingml/2006/main">
              <a:ext uri="{FF2B5EF4-FFF2-40B4-BE49-F238E27FC236}">
                <a16:creationId xmlns:a16="http://schemas.microsoft.com/office/drawing/2014/main" id="{3B3730FB-A06F-4988-A84E-EAD44BBC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962775"/>
            <a:ext cx="50577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72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Not estimable</a:t>
            </a:r>
          </a:p>
        </p:txBody>
      </p:sp>
      <p:sp>
        <p:nvSpPr>
          <p:cNvPr id="30" name="estimate-disclaimer">
            <a:extLst xmlns:a="http://schemas.openxmlformats.org/drawingml/2006/main">
              <a:ext uri="{FF2B5EF4-FFF2-40B4-BE49-F238E27FC236}">
                <a16:creationId xmlns:a16="http://schemas.microsoft.com/office/drawing/2014/main" id="{02A63A88-F2A9-4AF0-91A8-953551D9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191500"/>
            <a:ext cx="1638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39465A"/>
                </a:solidFill>
                <a:latin typeface="Canva Sans"/>
                <a:ea typeface="Canva Sans"/>
                <a:cs typeface="Canva Sans"/>
              </a:rPr>
              <a:t>The rates are hypothetical internal assumptions, not measured facts. Estimates are not real-world predictions or attacker ordering.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EDBE6E5-1B1B-4C4F-AEBD-7C003F84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102292" y="-10119480"/>
            <a:ext cx="12388217" cy="12388217"/>
          </a:xfrm>
          <a:custGeom xmlns:a="http://schemas.openxmlformats.org/drawingml/2006/main">
            <a:rect l="l" t="t" r="r" b="b"/>
            <a:pathLst>
              <a:path w="12388217" h="12388217">
                <a:moveTo>
                  <a:pt x="0" y="0"/>
                </a:moveTo>
                <a:lnTo>
                  <a:pt x="12388216" y="0"/>
                </a:lnTo>
                <a:lnTo>
                  <a:pt x="12388216" y="12388217"/>
                </a:lnTo>
                <a:lnTo>
                  <a:pt x="0" y="1238821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0f1a1abd6242d3">
              <a:extLst>
                <a:ext uri="{96DAC541-7B7A-43D3-8B79-37D633B846F1}">
                  <asvg:svgBlip xmlns:asvg="http://schemas.microsoft.com/office/drawing/2016/SVG/main" r:embed="R6d9f124eb88847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D725CDD-D5F0-4327-8790-701A6E2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3491085" y="6761675"/>
            <a:ext cx="15252372" cy="15252372"/>
          </a:xfrm>
          <a:custGeom xmlns:a="http://schemas.openxmlformats.org/drawingml/2006/main">
            <a:rect l="l" t="t" r="r" b="b"/>
            <a:pathLst>
              <a:path w="15252372" h="15252372">
                <a:moveTo>
                  <a:pt x="0" y="0"/>
                </a:moveTo>
                <a:lnTo>
                  <a:pt x="15252372" y="0"/>
                </a:lnTo>
                <a:lnTo>
                  <a:pt x="15252372" y="15252373"/>
                </a:lnTo>
                <a:lnTo>
                  <a:pt x="0" y="152523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50f1a1abd6242d3">
              <a:extLst>
                <a:ext uri="{96DAC541-7B7A-43D3-8B79-37D633B846F1}">
                  <asvg:svgBlip xmlns:asvg="http://schemas.microsoft.com/office/drawing/2016/SVG/main" r:embed="R6d9f124eb888473e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C2E27FD-3A99-47C2-80D4-1512A9F0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259300" y="-5960863"/>
            <a:ext cx="8896865" cy="8229600"/>
          </a:xfrm>
          <a:custGeom xmlns:a="http://schemas.openxmlformats.org/drawingml/2006/main">
            <a:rect l="l" t="t" r="r" b="b"/>
            <a:pathLst>
              <a:path w="8896865" h="8229600">
                <a:moveTo>
                  <a:pt x="0" y="0"/>
                </a:moveTo>
                <a:lnTo>
                  <a:pt x="8896865" y="0"/>
                </a:lnTo>
                <a:lnTo>
                  <a:pt x="889686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1faa05183084203"/>
            <a:stretch>
              <a:fillRect l="0" t="0" r="0" b="0"/>
            </a:stretch>
          </a:blipFill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883B75-172A-4EB6-B806-95239B37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"/>
            <a:ext cx="1676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defPPr>
            <a:lvl1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1pPr>
            <a:lvl2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2pPr>
            <a:lvl3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3pPr>
            <a:lvl4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4pPr>
            <a:lvl5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5pPr>
            <a:lvl6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6pPr>
            <a:lvl7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7pPr>
            <a:lvl8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8pPr>
            <a:lvl9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lvl9pPr>
          </a:lstStyle>
          <a:p xmlns:a="http://schemas.openxmlformats.org/drawingml/2006/main">
            <a:pPr algn="l">
              <a:def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defRPr>
            </a:pPr>
            <a:r>
              <a:rPr sz="4200" b="1" i="1">
                <a:solidFill>
                  <a:srgbClr val="005AE0"/>
                </a:solidFill>
                <a:latin typeface="Cooper BT Bold Italics"/>
                <a:ea typeface="Cooper BT Bold Italics"/>
                <a:cs typeface="Cooper BT Bold Italics"/>
              </a:rPr>
              <a:t>Implementation, Limitations and Conclusion</a:t>
            </a:r>
          </a:p>
        </p:txBody>
      </p:sp>
      <p:sp>
        <p:nvSpPr>
          <p:cNvPr id="6" name="implementation-copy">
            <a:extLst xmlns:a="http://schemas.openxmlformats.org/drawingml/2006/main">
              <a:ext uri="{FF2B5EF4-FFF2-40B4-BE49-F238E27FC236}">
                <a16:creationId xmlns:a16="http://schemas.microsoft.com/office/drawing/2014/main" id="{17A92F43-98CF-4319-9AB0-49F2F269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76375"/>
            <a:ext cx="1609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175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Java 21 desktop application built with JavaFX and Maven. The Results page presents local heuristic feedback and five algorithm entries. JUnit tests cover analysis, estimation, simulation boundaries and report validation.</a:t>
            </a:r>
          </a:p>
        </p:txBody>
      </p:sp>
      <p:sp>
        <p:nvSpPr>
          <p:cNvPr id="7" name="test-result">
            <a:extLst xmlns:a="http://schemas.openxmlformats.org/drawingml/2006/main">
              <a:ext uri="{FF2B5EF4-FFF2-40B4-BE49-F238E27FC236}">
                <a16:creationId xmlns:a16="http://schemas.microsoft.com/office/drawing/2014/main" id="{C0A081C6-669F-4025-9CA9-DF862761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Validation evidence: mvn test and mvn package succeeded; 134 tests passed.</a:t>
            </a:r>
          </a:p>
        </p:txBody>
      </p:sp>
      <p:sp>
        <p:nvSpPr>
          <p:cNvPr id="8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47A584D5-C9B7-44B4-847A-C54A2844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1950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2250" b="1" i="0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LIMITATIONS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E7F7DA68-2B4D-4CC1-A424-46769AD1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910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1</a:t>
            </a:r>
          </a:p>
        </p:txBody>
      </p:sp>
      <p:sp>
        <p:nvSpPr>
          <p:cNvPr id="10" name="limit-1">
            <a:extLst xmlns:a="http://schemas.openxmlformats.org/drawingml/2006/main">
              <a:ext uri="{FF2B5EF4-FFF2-40B4-BE49-F238E27FC236}">
                <a16:creationId xmlns:a16="http://schemas.microsoft.com/office/drawing/2014/main" id="{9B10711F-8B67-4A7C-AD07-E5F08887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33387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Estimates are educational and depend on simplified assumptions.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9D1333B3-43C5-4CD5-9C2B-F71F87B4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2</a:t>
            </a:r>
          </a:p>
        </p:txBody>
      </p:sp>
      <p:sp>
        <p:nvSpPr>
          <p:cNvPr id="12" name="limit-2">
            <a:extLst xmlns:a="http://schemas.openxmlformats.org/drawingml/2006/main">
              <a:ext uri="{FF2B5EF4-FFF2-40B4-BE49-F238E27FC236}">
                <a16:creationId xmlns:a16="http://schemas.microsoft.com/office/drawing/2014/main" id="{D85E648D-D956-4C7F-BC2B-104A45D3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292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Synthetic simulation does not crack the submitted password.</a:t>
            </a:r>
          </a:p>
        </p:txBody>
      </p:sp>
      <p:sp>
        <p:nvSpPr>
          <p:cNvPr id="13" name="step-3">
            <a:extLst xmlns:a="http://schemas.openxmlformats.org/drawingml/2006/main">
              <a:ext uri="{FF2B5EF4-FFF2-40B4-BE49-F238E27FC236}">
                <a16:creationId xmlns:a16="http://schemas.microsoft.com/office/drawing/2014/main" id="{51A0B652-B6AD-4DFC-AFB6-D234A7DF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817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3</a:t>
            </a:r>
          </a:p>
        </p:txBody>
      </p:sp>
      <p:sp>
        <p:nvSpPr>
          <p:cNvPr id="14" name="limit-3">
            <a:extLst xmlns:a="http://schemas.openxmlformats.org/drawingml/2006/main">
              <a:ext uri="{FF2B5EF4-FFF2-40B4-BE49-F238E27FC236}">
                <a16:creationId xmlns:a16="http://schemas.microsoft.com/office/drawing/2014/main" id="{2215E7E6-F56E-457C-B986-FFA2C298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12457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Optional benchmark uses a random fixture; verification latency is not cracking throughput.</a:t>
            </a:r>
          </a:p>
        </p:txBody>
      </p:sp>
      <p:sp>
        <p:nvSpPr>
          <p:cNvPr id="15" name="step-4">
            <a:extLst xmlns:a="http://schemas.openxmlformats.org/drawingml/2006/main">
              <a:ext uri="{FF2B5EF4-FFF2-40B4-BE49-F238E27FC236}">
                <a16:creationId xmlns:a16="http://schemas.microsoft.com/office/drawing/2014/main" id="{0E1A5889-FE16-4F05-A98E-18B21A15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077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AE0"/>
          </a:solidFill>
          <a:ln xmlns:a="http://schemas.openxmlformats.org/drawingml/2006/main" w="9525">
            <a:solidFill>
              <a:srgbClr val="005AE0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defRPr>
            </a:pPr>
            <a:r>
              <a:rPr sz="2100" b="1">
                <a:solidFill>
                  <a:srgbClr val="FFFFFF"/>
                </a:solidFill>
                <a:latin typeface="Canva Sans"/>
                <a:ea typeface="Canva Sans"/>
                <a:cs typeface="Canva Sans"/>
              </a:rPr>
              <a:t>4</a:t>
            </a:r>
          </a:p>
        </p:txBody>
      </p:sp>
      <p:sp>
        <p:nvSpPr>
          <p:cNvPr id="16" name="limit-4">
            <a:extLst xmlns:a="http://schemas.openxmlformats.org/drawingml/2006/main">
              <a:ext uri="{FF2B5EF4-FFF2-40B4-BE49-F238E27FC236}">
                <a16:creationId xmlns:a16="http://schemas.microsoft.com/office/drawing/2014/main" id="{D4A68A5E-2245-4881-B132-ADA9ADA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019925"/>
            <a:ext cx="857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1800" b="0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Benchmark JSON is unsigned. Matching metadata does not prove authenticity or tamper resistance.</a:t>
            </a:r>
          </a:p>
        </p:txBody>
      </p:sp>
      <p:sp>
        <p:nvSpPr>
          <p:cNvPr id="17" name="conclusion-box">
            <a:extLst xmlns:a="http://schemas.openxmlformats.org/drawingml/2006/main">
              <a:ext uri="{FF2B5EF4-FFF2-40B4-BE49-F238E27FC236}">
                <a16:creationId xmlns:a16="http://schemas.microsoft.com/office/drawing/2014/main" id="{648A087B-5AC8-4EF5-8E3F-9037F216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000500"/>
            <a:ext cx="5524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4EDFF"/>
          </a:solidFill>
          <a:ln xmlns:a="http://schemas.openxmlformats.org/drawingml/2006/main" w="19050">
            <a:solidFill>
              <a:srgbClr val="AFC7FF"/>
            </a:solidFill>
            <a:prstDash val="solid"/>
          </a:ln>
        </p:spPr>
      </p:sp>
      <p:sp>
        <p:nvSpPr>
          <p:cNvPr id="18" name="conclusion-copy">
            <a:extLst xmlns:a="http://schemas.openxmlformats.org/drawingml/2006/main">
              <a:ext uri="{FF2B5EF4-FFF2-40B4-BE49-F238E27FC236}">
                <a16:creationId xmlns:a16="http://schemas.microsoft.com/office/drawing/2014/main" id="{10647732-1697-4ACC-96AB-383A397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429125"/>
            <a:ext cx="4667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defRPr>
            </a:pPr>
            <a:r>
              <a:rPr sz="2400" b="1" i="0">
                <a:solidFill>
                  <a:srgbClr val="111111"/>
                </a:solidFill>
                <a:latin typeface="Canva Sans"/>
                <a:ea typeface="Canva Sans"/>
                <a:cs typeface="Canva Sans"/>
              </a:rPr>
              <a:t>PassScope provides an educational way to explore password characteristics, hashing approaches, and the assumptions behind crack-time estimates.</a:t>
            </a:r>
          </a:p>
        </p:txBody>
      </p:sp>
      <p:sp>
        <p:nvSpPr>
          <p:cNvPr id="19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C8C9FB35-99C4-4C11-A07E-07714E12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58125"/>
            <a:ext cx="5715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defPPr>
            <a:lvl1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1pPr>
            <a:lvl2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2pPr>
            <a:lvl3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3pPr>
            <a:lvl4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4pPr>
            <a:lvl5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5pPr>
            <a:lvl6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6pPr>
            <a:lvl7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7pPr>
            <a:lvl8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8pPr>
            <a:lvl9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lvl9pPr>
          </a:lstStyle>
          <a:p xmlns:a="http://schemas.openxmlformats.org/drawingml/2006/main">
            <a:pPr algn="ctr">
              <a:def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defRPr>
            </a:pPr>
            <a:r>
              <a:rPr sz="1875" b="1" i="1">
                <a:solidFill>
                  <a:srgbClr val="005AE0"/>
                </a:solidFill>
                <a:latin typeface="Canva Sans"/>
                <a:ea typeface="Canva Sans"/>
                <a:cs typeface="Canva Sans"/>
              </a:rPr>
              <a:t>Understand the assumptions. Interpret estimates responsibly.</a:t>
            </a:r>
          </a:p>
        </p:txBody>
      </p:sp>
    </p:spTree>
    <p:extLst>
      <p:ext uri="{BB962C8B-B14F-4D97-AF65-F5344CB8AC3E}">
        <p14:creationId xmlns:p14="http://schemas.microsoft.com/office/powerpoint/2010/main" val="5365332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2026-10-22T05:18:44.4240000Z</dcterms:created>
  <dcterms:modified xsi:type="dcterms:W3CDTF">2026-10-22T05:18:44.4240000Z</dcterms:modified>
</coreProperties>
</file>